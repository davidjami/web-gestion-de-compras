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12" r:id="rId1"/>
  </p:sldMasterIdLst>
  <p:notesMasterIdLst>
    <p:notesMasterId r:id="rId22"/>
  </p:notesMasterIdLst>
  <p:sldIdLst>
    <p:sldId id="256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</p:sldIdLst>
  <p:sldSz cx="12192000" cy="6858000"/>
  <p:notesSz cx="6858000" cy="9144000"/>
  <p:embeddedFontLst>
    <p:embeddedFont>
      <p:font typeface="Alimama ShuHeiTi" charset="-122"/>
      <p:regular r:id="rId23"/>
    </p:embeddedFont>
    <p:embeddedFont>
      <p:font typeface="MiSans" panose="020B0604020202020204" charset="-122"/>
      <p:regular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SemiBold" panose="00000700000000000000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SemiBold" panose="020B060402020202020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915A57-8C81-4C7C-9BF7-17460A90C7BD}">
  <a:tblStyle styleId="{6B915A57-8C81-4C7C-9BF7-17460A90C7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520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897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590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47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6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60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586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32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45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151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375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85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9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41315"/>
            <a:ext cx="621030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830734"/>
            <a:ext cx="652081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6837"/>
                </a:solidFill>
                <a:latin typeface="Montserrat"/>
                <a:ea typeface="Montserrat"/>
                <a:cs typeface="Montserrat"/>
                <a:sym typeface="Montserrat"/>
              </a:rPr>
              <a:t>Gestión de Compras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512665"/>
            <a:ext cx="6210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Sistema Web Integral con Java EE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3300" y="2987576"/>
            <a:ext cx="4266902" cy="11776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152525" y="3455640"/>
            <a:ext cx="5391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Universidad de las Fuerzas Armadas "ESPE"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52525" y="3789015"/>
            <a:ext cx="5391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Ingeniería de Software - Programación Web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52525" y="4122390"/>
            <a:ext cx="5391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Estudiante: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Klever Jami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52525" y="4455765"/>
            <a:ext cx="5391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Fecha: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08/02/2026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49850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83187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416525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4498627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Introducción al Proyecto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6760845" cy="2426970"/>
          </a:xfrm>
          <a:custGeom>
            <a:avLst/>
            <a:gdLst/>
            <a:ahLst/>
            <a:cxnLst/>
            <a:rect l="l" t="t" r="r" b="b"/>
            <a:pathLst>
              <a:path w="6760845" h="2426970">
                <a:moveTo>
                  <a:pt x="152389" y="0"/>
                </a:moveTo>
                <a:lnTo>
                  <a:pt x="6608456" y="0"/>
                </a:lnTo>
                <a:cubicBezTo>
                  <a:pt x="6692618" y="0"/>
                  <a:pt x="6760845" y="68227"/>
                  <a:pt x="6760845" y="152389"/>
                </a:cubicBezTo>
                <a:lnTo>
                  <a:pt x="6760845" y="2274581"/>
                </a:lnTo>
                <a:cubicBezTo>
                  <a:pt x="6760845" y="2358743"/>
                  <a:pt x="6692618" y="2426970"/>
                  <a:pt x="6608456" y="2426970"/>
                </a:cubicBezTo>
                <a:lnTo>
                  <a:pt x="152389" y="2426970"/>
                </a:lnTo>
                <a:cubicBezTo>
                  <a:pt x="68283" y="2426970"/>
                  <a:pt x="0" y="2358687"/>
                  <a:pt x="0" y="2274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4830" y="161163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50558" y="17411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112520" y="1684020"/>
            <a:ext cx="41529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 Web de Gestión de Compras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020" y="2179320"/>
            <a:ext cx="6524625" cy="495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Aplicación web completa para administrar el proceso de compras de una empresa, permitiendo gestionar </a:t>
            </a: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tres entidades principales</a:t>
            </a: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 de forma integrada.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830" y="2792730"/>
            <a:ext cx="2065020" cy="922020"/>
          </a:xfrm>
          <a:custGeom>
            <a:avLst/>
            <a:gdLst/>
            <a:ahLst/>
            <a:cxnLst/>
            <a:rect l="l" t="t" r="r" b="b"/>
            <a:pathLst>
              <a:path w="2065020" h="922020">
                <a:moveTo>
                  <a:pt x="114303" y="0"/>
                </a:moveTo>
                <a:lnTo>
                  <a:pt x="1950717" y="0"/>
                </a:lnTo>
                <a:cubicBezTo>
                  <a:pt x="2013845" y="0"/>
                  <a:pt x="2065020" y="51175"/>
                  <a:pt x="2065020" y="114303"/>
                </a:cubicBezTo>
                <a:lnTo>
                  <a:pt x="2065020" y="807717"/>
                </a:lnTo>
                <a:cubicBezTo>
                  <a:pt x="2065020" y="870845"/>
                  <a:pt x="2013845" y="922020"/>
                  <a:pt x="19507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72465" y="294894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04775" y="9525"/>
                </a:lnTo>
                <a:cubicBezTo>
                  <a:pt x="115282" y="9525"/>
                  <a:pt x="123825" y="18068"/>
                  <a:pt x="123825" y="28575"/>
                </a:cubicBezTo>
                <a:lnTo>
                  <a:pt x="123825" y="38100"/>
                </a:lnTo>
                <a:lnTo>
                  <a:pt x="138916" y="38100"/>
                </a:lnTo>
                <a:cubicBezTo>
                  <a:pt x="143976" y="38100"/>
                  <a:pt x="148828" y="40094"/>
                  <a:pt x="152400" y="43666"/>
                </a:cubicBezTo>
                <a:lnTo>
                  <a:pt x="165884" y="57150"/>
                </a:lnTo>
                <a:cubicBezTo>
                  <a:pt x="169456" y="60722"/>
                  <a:pt x="171450" y="65574"/>
                  <a:pt x="171450" y="70634"/>
                </a:cubicBezTo>
                <a:lnTo>
                  <a:pt x="171450" y="114300"/>
                </a:lnTo>
                <a:cubicBezTo>
                  <a:pt x="171450" y="124807"/>
                  <a:pt x="162907" y="133350"/>
                  <a:pt x="152400" y="133350"/>
                </a:cubicBezTo>
                <a:lnTo>
                  <a:pt x="151418" y="133350"/>
                </a:lnTo>
                <a:cubicBezTo>
                  <a:pt x="148322" y="144334"/>
                  <a:pt x="138202" y="152400"/>
                  <a:pt x="126206" y="152400"/>
                </a:cubicBezTo>
                <a:cubicBezTo>
                  <a:pt x="114211" y="152400"/>
                  <a:pt x="104120" y="144334"/>
                  <a:pt x="100995" y="133350"/>
                </a:cubicBezTo>
                <a:lnTo>
                  <a:pt x="70455" y="133350"/>
                </a:lnTo>
                <a:cubicBezTo>
                  <a:pt x="67360" y="144334"/>
                  <a:pt x="57239" y="152400"/>
                  <a:pt x="45244" y="152400"/>
                </a:cubicBezTo>
                <a:cubicBezTo>
                  <a:pt x="33248" y="152400"/>
                  <a:pt x="23158" y="144334"/>
                  <a:pt x="20032" y="133350"/>
                </a:cubicBezTo>
                <a:lnTo>
                  <a:pt x="19050" y="133350"/>
                </a:lnTo>
                <a:cubicBezTo>
                  <a:pt x="8543" y="133350"/>
                  <a:pt x="0" y="124807"/>
                  <a:pt x="0" y="114300"/>
                </a:cubicBezTo>
                <a:lnTo>
                  <a:pt x="0" y="28575"/>
                </a:lnTo>
                <a:close/>
                <a:moveTo>
                  <a:pt x="152400" y="85725"/>
                </a:moveTo>
                <a:lnTo>
                  <a:pt x="152400" y="70634"/>
                </a:lnTo>
                <a:lnTo>
                  <a:pt x="138916" y="57150"/>
                </a:lnTo>
                <a:lnTo>
                  <a:pt x="123825" y="57150"/>
                </a:lnTo>
                <a:lnTo>
                  <a:pt x="123825" y="85725"/>
                </a:lnTo>
                <a:lnTo>
                  <a:pt x="152400" y="85725"/>
                </a:lnTo>
                <a:close/>
                <a:moveTo>
                  <a:pt x="57150" y="126206"/>
                </a:moveTo>
                <a:cubicBezTo>
                  <a:pt x="57150" y="119635"/>
                  <a:pt x="51815" y="114300"/>
                  <a:pt x="45244" y="114300"/>
                </a:cubicBezTo>
                <a:cubicBezTo>
                  <a:pt x="38673" y="114300"/>
                  <a:pt x="33338" y="119635"/>
                  <a:pt x="33338" y="126206"/>
                </a:cubicBezTo>
                <a:cubicBezTo>
                  <a:pt x="33338" y="132777"/>
                  <a:pt x="38673" y="138113"/>
                  <a:pt x="45244" y="138113"/>
                </a:cubicBezTo>
                <a:cubicBezTo>
                  <a:pt x="51815" y="138113"/>
                  <a:pt x="57150" y="132777"/>
                  <a:pt x="57150" y="126206"/>
                </a:cubicBezTo>
                <a:close/>
                <a:moveTo>
                  <a:pt x="126206" y="138113"/>
                </a:moveTo>
                <a:cubicBezTo>
                  <a:pt x="132777" y="138113"/>
                  <a:pt x="138113" y="132777"/>
                  <a:pt x="138113" y="126206"/>
                </a:cubicBezTo>
                <a:cubicBezTo>
                  <a:pt x="138113" y="119635"/>
                  <a:pt x="132777" y="114300"/>
                  <a:pt x="126206" y="114300"/>
                </a:cubicBezTo>
                <a:cubicBezTo>
                  <a:pt x="119635" y="114300"/>
                  <a:pt x="114300" y="119635"/>
                  <a:pt x="114300" y="126206"/>
                </a:cubicBezTo>
                <a:cubicBezTo>
                  <a:pt x="114300" y="132777"/>
                  <a:pt x="119635" y="138113"/>
                  <a:pt x="126206" y="138113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29640" y="2910840"/>
            <a:ext cx="9525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Proveedores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" y="3215640"/>
            <a:ext cx="1895475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Quienes suministran productos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31770" y="2792730"/>
            <a:ext cx="2065020" cy="922020"/>
          </a:xfrm>
          <a:custGeom>
            <a:avLst/>
            <a:gdLst/>
            <a:ahLst/>
            <a:cxnLst/>
            <a:rect l="l" t="t" r="r" b="b"/>
            <a:pathLst>
              <a:path w="2065020" h="922020">
                <a:moveTo>
                  <a:pt x="114303" y="0"/>
                </a:moveTo>
                <a:lnTo>
                  <a:pt x="1950717" y="0"/>
                </a:lnTo>
                <a:cubicBezTo>
                  <a:pt x="2013845" y="0"/>
                  <a:pt x="2065020" y="51175"/>
                  <a:pt x="2065020" y="114303"/>
                </a:cubicBezTo>
                <a:lnTo>
                  <a:pt x="2065020" y="807717"/>
                </a:lnTo>
                <a:cubicBezTo>
                  <a:pt x="2065020" y="870845"/>
                  <a:pt x="2013845" y="922020"/>
                  <a:pt x="19507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859405" y="294894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42297"/>
                </a:move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71438"/>
                </a:lnTo>
                <a:cubicBezTo>
                  <a:pt x="19050" y="66169"/>
                  <a:pt x="23306" y="61912"/>
                  <a:pt x="28575" y="61912"/>
                </a:cubicBezTo>
                <a:lnTo>
                  <a:pt x="142875" y="61912"/>
                </a:lnTo>
                <a:cubicBezTo>
                  <a:pt x="148144" y="61912"/>
                  <a:pt x="152400" y="66169"/>
                  <a:pt x="152400" y="71438"/>
                </a:cubicBezTo>
                <a:lnTo>
                  <a:pt x="152400" y="142875"/>
                </a:lnTo>
                <a:cubicBezTo>
                  <a:pt x="152400" y="148144"/>
                  <a:pt x="156656" y="152400"/>
                  <a:pt x="161925" y="152400"/>
                </a:cubicBezTo>
                <a:cubicBezTo>
                  <a:pt x="167194" y="152400"/>
                  <a:pt x="171450" y="148144"/>
                  <a:pt x="171450" y="142875"/>
                </a:cubicBezTo>
                <a:lnTo>
                  <a:pt x="171450" y="42297"/>
                </a:lnTo>
                <a:cubicBezTo>
                  <a:pt x="171450" y="34111"/>
                  <a:pt x="166211" y="26819"/>
                  <a:pt x="158413" y="24229"/>
                </a:cubicBezTo>
                <a:lnTo>
                  <a:pt x="90249" y="1518"/>
                </a:lnTo>
                <a:cubicBezTo>
                  <a:pt x="87303" y="536"/>
                  <a:pt x="84147" y="536"/>
                  <a:pt x="81201" y="1518"/>
                </a:cubicBezTo>
                <a:lnTo>
                  <a:pt x="13037" y="24229"/>
                </a:lnTo>
                <a:cubicBezTo>
                  <a:pt x="5239" y="26819"/>
                  <a:pt x="0" y="34111"/>
                  <a:pt x="0" y="42297"/>
                </a:cubicBezTo>
                <a:close/>
                <a:moveTo>
                  <a:pt x="138113" y="76200"/>
                </a:moveTo>
                <a:lnTo>
                  <a:pt x="33338" y="76200"/>
                </a:lnTo>
                <a:lnTo>
                  <a:pt x="33338" y="95250"/>
                </a:lnTo>
                <a:lnTo>
                  <a:pt x="138113" y="95250"/>
                </a:lnTo>
                <a:lnTo>
                  <a:pt x="138113" y="76200"/>
                </a:lnTo>
                <a:close/>
                <a:moveTo>
                  <a:pt x="33338" y="123825"/>
                </a:moveTo>
                <a:lnTo>
                  <a:pt x="138113" y="123825"/>
                </a:lnTo>
                <a:lnTo>
                  <a:pt x="138113" y="104775"/>
                </a:lnTo>
                <a:lnTo>
                  <a:pt x="33338" y="104775"/>
                </a:lnTo>
                <a:lnTo>
                  <a:pt x="33338" y="123825"/>
                </a:lnTo>
                <a:close/>
                <a:moveTo>
                  <a:pt x="138113" y="133350"/>
                </a:moveTo>
                <a:lnTo>
                  <a:pt x="33338" y="133350"/>
                </a:lnTo>
                <a:lnTo>
                  <a:pt x="33338" y="152400"/>
                </a:lnTo>
                <a:lnTo>
                  <a:pt x="138113" y="152400"/>
                </a:lnTo>
                <a:lnTo>
                  <a:pt x="138113" y="13335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116580" y="2910840"/>
            <a:ext cx="6858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Bodegas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9880" y="3215640"/>
            <a:ext cx="1895475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Lugares donde se almacenan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8710" y="2792730"/>
            <a:ext cx="2065020" cy="922020"/>
          </a:xfrm>
          <a:custGeom>
            <a:avLst/>
            <a:gdLst/>
            <a:ahLst/>
            <a:cxnLst/>
            <a:rect l="l" t="t" r="r" b="b"/>
            <a:pathLst>
              <a:path w="2065020" h="922020">
                <a:moveTo>
                  <a:pt x="114303" y="0"/>
                </a:moveTo>
                <a:lnTo>
                  <a:pt x="1950717" y="0"/>
                </a:lnTo>
                <a:cubicBezTo>
                  <a:pt x="2013845" y="0"/>
                  <a:pt x="2065020" y="51175"/>
                  <a:pt x="2065020" y="114303"/>
                </a:cubicBezTo>
                <a:lnTo>
                  <a:pt x="2065020" y="807717"/>
                </a:lnTo>
                <a:cubicBezTo>
                  <a:pt x="2065020" y="870845"/>
                  <a:pt x="2013845" y="922020"/>
                  <a:pt x="19507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055870" y="29489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303520" y="2910840"/>
            <a:ext cx="66675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Ingresos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36820" y="3215640"/>
            <a:ext cx="1895475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Registro de recepción de mercancía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3996691"/>
            <a:ext cx="6760845" cy="1436370"/>
          </a:xfrm>
          <a:custGeom>
            <a:avLst/>
            <a:gdLst/>
            <a:ahLst/>
            <a:cxnLst/>
            <a:rect l="l" t="t" r="r" b="b"/>
            <a:pathLst>
              <a:path w="6760845" h="1436370">
                <a:moveTo>
                  <a:pt x="152399" y="0"/>
                </a:moveTo>
                <a:lnTo>
                  <a:pt x="6608446" y="0"/>
                </a:lnTo>
                <a:cubicBezTo>
                  <a:pt x="6692614" y="0"/>
                  <a:pt x="6760845" y="68231"/>
                  <a:pt x="6760845" y="152399"/>
                </a:cubicBezTo>
                <a:lnTo>
                  <a:pt x="6760845" y="1283971"/>
                </a:lnTo>
                <a:cubicBezTo>
                  <a:pt x="6760845" y="1368139"/>
                  <a:pt x="6692614" y="1436370"/>
                  <a:pt x="6608446" y="1436370"/>
                </a:cubicBezTo>
                <a:lnTo>
                  <a:pt x="152399" y="1436370"/>
                </a:lnTo>
                <a:cubicBezTo>
                  <a:pt x="68231" y="1436370"/>
                  <a:pt x="0" y="1368139"/>
                  <a:pt x="0" y="128397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64832" y="419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79145" y="4152900"/>
            <a:ext cx="6305550" cy="266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MVC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020" y="4533900"/>
            <a:ext cx="6524625" cy="742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Implementado usando </a:t>
            </a: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arquitectura MVC con Java EE</a:t>
            </a: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 , separando claramente la lógica de negocio (Modelo), la presentación (Vista) y el control de flujo (Controlador). Esta separación hace que el código sea más </a:t>
            </a: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mantenible, escalable y fácil de entender</a:t>
            </a: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 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03770" y="1451610"/>
            <a:ext cx="4503420" cy="5017770"/>
          </a:xfrm>
          <a:custGeom>
            <a:avLst/>
            <a:gdLst/>
            <a:ahLst/>
            <a:cxnLst/>
            <a:rect l="l" t="t" r="r" b="b"/>
            <a:pathLst>
              <a:path w="4503420" h="5017770">
                <a:moveTo>
                  <a:pt x="152396" y="0"/>
                </a:moveTo>
                <a:lnTo>
                  <a:pt x="4351024" y="0"/>
                </a:lnTo>
                <a:cubicBezTo>
                  <a:pt x="4435134" y="0"/>
                  <a:pt x="4503420" y="68286"/>
                  <a:pt x="4503420" y="152396"/>
                </a:cubicBezTo>
                <a:lnTo>
                  <a:pt x="4503420" y="4865374"/>
                </a:lnTo>
                <a:cubicBezTo>
                  <a:pt x="4503420" y="4949540"/>
                  <a:pt x="4435190" y="5017770"/>
                  <a:pt x="4351024" y="5017770"/>
                </a:cubicBezTo>
                <a:lnTo>
                  <a:pt x="152396" y="5017770"/>
                </a:lnTo>
                <a:cubicBezTo>
                  <a:pt x="68286" y="5017770"/>
                  <a:pt x="0" y="4949484"/>
                  <a:pt x="0" y="48653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471886" y="16459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698105" y="1607820"/>
            <a:ext cx="4048125" cy="266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Stack Tecnológico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63790" y="1992630"/>
            <a:ext cx="4179570" cy="579120"/>
          </a:xfrm>
          <a:custGeom>
            <a:avLst/>
            <a:gdLst/>
            <a:ahLst/>
            <a:cxnLst/>
            <a:rect l="l" t="t" r="r" b="b"/>
            <a:pathLst>
              <a:path w="4179570" h="5791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502919"/>
                </a:lnTo>
                <a:cubicBezTo>
                  <a:pt x="4179570" y="545004"/>
                  <a:pt x="4145454" y="579120"/>
                  <a:pt x="41033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7543800" y="20916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672388" y="219646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3025" y="104779"/>
                </a:moveTo>
                <a:cubicBezTo>
                  <a:pt x="96307" y="102535"/>
                  <a:pt x="100861" y="100593"/>
                  <a:pt x="100861" y="100593"/>
                </a:cubicBezTo>
                <a:cubicBezTo>
                  <a:pt x="100861" y="100593"/>
                  <a:pt x="87902" y="102937"/>
                  <a:pt x="75009" y="104009"/>
                </a:cubicBezTo>
                <a:cubicBezTo>
                  <a:pt x="59237" y="105315"/>
                  <a:pt x="42293" y="105582"/>
                  <a:pt x="33788" y="104444"/>
                </a:cubicBezTo>
                <a:cubicBezTo>
                  <a:pt x="13662" y="101765"/>
                  <a:pt x="44838" y="94364"/>
                  <a:pt x="44838" y="94364"/>
                </a:cubicBezTo>
                <a:cubicBezTo>
                  <a:pt x="44838" y="94364"/>
                  <a:pt x="32750" y="93561"/>
                  <a:pt x="17848" y="100727"/>
                </a:cubicBezTo>
                <a:cubicBezTo>
                  <a:pt x="268" y="109232"/>
                  <a:pt x="61380" y="113117"/>
                  <a:pt x="93025" y="104779"/>
                </a:cubicBezTo>
                <a:close/>
                <a:moveTo>
                  <a:pt x="64428" y="94030"/>
                </a:moveTo>
                <a:cubicBezTo>
                  <a:pt x="58065" y="79731"/>
                  <a:pt x="36601" y="67174"/>
                  <a:pt x="64428" y="45207"/>
                </a:cubicBezTo>
                <a:cubicBezTo>
                  <a:pt x="99153" y="17815"/>
                  <a:pt x="81338" y="0"/>
                  <a:pt x="81338" y="0"/>
                </a:cubicBezTo>
                <a:cubicBezTo>
                  <a:pt x="88538" y="28296"/>
                  <a:pt x="56023" y="36868"/>
                  <a:pt x="44269" y="54449"/>
                </a:cubicBezTo>
                <a:cubicBezTo>
                  <a:pt x="36266" y="66470"/>
                  <a:pt x="48187" y="79363"/>
                  <a:pt x="64428" y="94030"/>
                </a:cubicBezTo>
                <a:close/>
                <a:moveTo>
                  <a:pt x="102803" y="35027"/>
                </a:moveTo>
                <a:cubicBezTo>
                  <a:pt x="102837" y="35027"/>
                  <a:pt x="44135" y="49694"/>
                  <a:pt x="72163" y="81975"/>
                </a:cubicBezTo>
                <a:cubicBezTo>
                  <a:pt x="80434" y="91485"/>
                  <a:pt x="69986" y="100057"/>
                  <a:pt x="69986" y="100057"/>
                </a:cubicBezTo>
                <a:cubicBezTo>
                  <a:pt x="69986" y="100057"/>
                  <a:pt x="90982" y="89208"/>
                  <a:pt x="81338" y="75646"/>
                </a:cubicBezTo>
                <a:cubicBezTo>
                  <a:pt x="72330" y="62988"/>
                  <a:pt x="65432" y="56692"/>
                  <a:pt x="102803" y="35027"/>
                </a:cubicBezTo>
                <a:close/>
                <a:moveTo>
                  <a:pt x="100760" y="125607"/>
                </a:moveTo>
                <a:cubicBezTo>
                  <a:pt x="100593" y="125942"/>
                  <a:pt x="100359" y="126210"/>
                  <a:pt x="100091" y="126478"/>
                </a:cubicBezTo>
                <a:cubicBezTo>
                  <a:pt x="143054" y="115193"/>
                  <a:pt x="127248" y="86663"/>
                  <a:pt x="106721" y="93896"/>
                </a:cubicBezTo>
                <a:cubicBezTo>
                  <a:pt x="105616" y="94298"/>
                  <a:pt x="104645" y="95034"/>
                  <a:pt x="103975" y="96005"/>
                </a:cubicBezTo>
                <a:cubicBezTo>
                  <a:pt x="105181" y="95570"/>
                  <a:pt x="106420" y="95235"/>
                  <a:pt x="107659" y="95001"/>
                </a:cubicBezTo>
                <a:cubicBezTo>
                  <a:pt x="118039" y="92824"/>
                  <a:pt x="132941" y="108898"/>
                  <a:pt x="100760" y="125607"/>
                </a:cubicBezTo>
                <a:close/>
                <a:moveTo>
                  <a:pt x="116532" y="146469"/>
                </a:moveTo>
                <a:cubicBezTo>
                  <a:pt x="116532" y="146469"/>
                  <a:pt x="121388" y="150454"/>
                  <a:pt x="111208" y="153568"/>
                </a:cubicBezTo>
                <a:cubicBezTo>
                  <a:pt x="91820" y="159428"/>
                  <a:pt x="30573" y="161203"/>
                  <a:pt x="13562" y="153803"/>
                </a:cubicBezTo>
                <a:cubicBezTo>
                  <a:pt x="7434" y="151157"/>
                  <a:pt x="18920" y="147440"/>
                  <a:pt x="22536" y="146670"/>
                </a:cubicBezTo>
                <a:cubicBezTo>
                  <a:pt x="26287" y="145866"/>
                  <a:pt x="28463" y="146000"/>
                  <a:pt x="28463" y="146000"/>
                </a:cubicBezTo>
                <a:cubicBezTo>
                  <a:pt x="21666" y="141212"/>
                  <a:pt x="-15504" y="155410"/>
                  <a:pt x="9577" y="159462"/>
                </a:cubicBezTo>
                <a:cubicBezTo>
                  <a:pt x="77956" y="170579"/>
                  <a:pt x="134280" y="154472"/>
                  <a:pt x="116532" y="146469"/>
                </a:cubicBezTo>
                <a:close/>
                <a:moveTo>
                  <a:pt x="41690" y="132606"/>
                </a:moveTo>
                <a:cubicBezTo>
                  <a:pt x="15337" y="139973"/>
                  <a:pt x="57730" y="155176"/>
                  <a:pt x="91284" y="140810"/>
                </a:cubicBezTo>
                <a:cubicBezTo>
                  <a:pt x="88002" y="139538"/>
                  <a:pt x="84854" y="137997"/>
                  <a:pt x="81841" y="136189"/>
                </a:cubicBezTo>
                <a:cubicBezTo>
                  <a:pt x="66872" y="139035"/>
                  <a:pt x="59941" y="139236"/>
                  <a:pt x="46345" y="137696"/>
                </a:cubicBezTo>
                <a:cubicBezTo>
                  <a:pt x="35127" y="136423"/>
                  <a:pt x="41690" y="132606"/>
                  <a:pt x="41690" y="132606"/>
                </a:cubicBezTo>
                <a:close/>
                <a:moveTo>
                  <a:pt x="101899" y="165155"/>
                </a:moveTo>
                <a:cubicBezTo>
                  <a:pt x="75545" y="170111"/>
                  <a:pt x="43030" y="169541"/>
                  <a:pt x="23775" y="166360"/>
                </a:cubicBezTo>
                <a:cubicBezTo>
                  <a:pt x="23775" y="166327"/>
                  <a:pt x="27727" y="169608"/>
                  <a:pt x="48019" y="170914"/>
                </a:cubicBezTo>
                <a:cubicBezTo>
                  <a:pt x="78894" y="172890"/>
                  <a:pt x="126310" y="169809"/>
                  <a:pt x="127415" y="155209"/>
                </a:cubicBezTo>
                <a:cubicBezTo>
                  <a:pt x="127415" y="155209"/>
                  <a:pt x="125272" y="160734"/>
                  <a:pt x="101899" y="165155"/>
                </a:cubicBezTo>
                <a:close/>
                <a:moveTo>
                  <a:pt x="87299" y="118207"/>
                </a:moveTo>
                <a:cubicBezTo>
                  <a:pt x="67475" y="122024"/>
                  <a:pt x="55989" y="121924"/>
                  <a:pt x="41490" y="120417"/>
                </a:cubicBezTo>
                <a:cubicBezTo>
                  <a:pt x="30272" y="119245"/>
                  <a:pt x="37605" y="113820"/>
                  <a:pt x="37605" y="113820"/>
                </a:cubicBezTo>
                <a:cubicBezTo>
                  <a:pt x="8539" y="123464"/>
                  <a:pt x="53746" y="134381"/>
                  <a:pt x="94364" y="122493"/>
                </a:cubicBezTo>
                <a:cubicBezTo>
                  <a:pt x="91753" y="121555"/>
                  <a:pt x="89342" y="120115"/>
                  <a:pt x="87299" y="118207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8039100" y="2072640"/>
            <a:ext cx="111442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Java EE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39100" y="2301240"/>
            <a:ext cx="1104900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Backend y lógica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63790" y="2927985"/>
            <a:ext cx="4179570" cy="579120"/>
          </a:xfrm>
          <a:custGeom>
            <a:avLst/>
            <a:gdLst/>
            <a:ahLst/>
            <a:cxnLst/>
            <a:rect l="l" t="t" r="r" b="b"/>
            <a:pathLst>
              <a:path w="4179570" h="5791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502919"/>
                </a:lnTo>
                <a:cubicBezTo>
                  <a:pt x="4179570" y="545004"/>
                  <a:pt x="4145454" y="579120"/>
                  <a:pt x="41033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7543800" y="30270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7661672" y="313182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8039100" y="3007995"/>
            <a:ext cx="94297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39100" y="3236595"/>
            <a:ext cx="933450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63790" y="3863341"/>
            <a:ext cx="4179570" cy="579120"/>
          </a:xfrm>
          <a:custGeom>
            <a:avLst/>
            <a:gdLst/>
            <a:ahLst/>
            <a:cxnLst/>
            <a:rect l="l" t="t" r="r" b="b"/>
            <a:pathLst>
              <a:path w="4179570" h="5791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502919"/>
                </a:lnTo>
                <a:cubicBezTo>
                  <a:pt x="4179570" y="545004"/>
                  <a:pt x="4145454" y="579120"/>
                  <a:pt x="41033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75438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672388" y="40671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10716"/>
                </a:moveTo>
                <a:lnTo>
                  <a:pt x="11687" y="143255"/>
                </a:lnTo>
                <a:lnTo>
                  <a:pt x="64126" y="160734"/>
                </a:lnTo>
                <a:lnTo>
                  <a:pt x="116901" y="143255"/>
                </a:lnTo>
                <a:lnTo>
                  <a:pt x="128588" y="10716"/>
                </a:lnTo>
                <a:lnTo>
                  <a:pt x="0" y="10716"/>
                </a:lnTo>
                <a:close/>
                <a:moveTo>
                  <a:pt x="103205" y="53545"/>
                </a:moveTo>
                <a:lnTo>
                  <a:pt x="41657" y="53545"/>
                </a:lnTo>
                <a:lnTo>
                  <a:pt x="43030" y="70087"/>
                </a:lnTo>
                <a:lnTo>
                  <a:pt x="101832" y="70087"/>
                </a:lnTo>
                <a:lnTo>
                  <a:pt x="97278" y="119781"/>
                </a:lnTo>
                <a:lnTo>
                  <a:pt x="64495" y="128822"/>
                </a:lnTo>
                <a:lnTo>
                  <a:pt x="64495" y="128922"/>
                </a:lnTo>
                <a:lnTo>
                  <a:pt x="64126" y="128922"/>
                </a:lnTo>
                <a:lnTo>
                  <a:pt x="31075" y="119781"/>
                </a:lnTo>
                <a:lnTo>
                  <a:pt x="29066" y="94398"/>
                </a:lnTo>
                <a:lnTo>
                  <a:pt x="45039" y="94398"/>
                </a:lnTo>
                <a:lnTo>
                  <a:pt x="46211" y="107156"/>
                </a:lnTo>
                <a:lnTo>
                  <a:pt x="64126" y="112012"/>
                </a:lnTo>
                <a:lnTo>
                  <a:pt x="82108" y="107156"/>
                </a:lnTo>
                <a:lnTo>
                  <a:pt x="84118" y="86328"/>
                </a:lnTo>
                <a:lnTo>
                  <a:pt x="28229" y="86328"/>
                </a:lnTo>
                <a:lnTo>
                  <a:pt x="23943" y="37572"/>
                </a:lnTo>
                <a:lnTo>
                  <a:pt x="104678" y="37572"/>
                </a:lnTo>
                <a:lnTo>
                  <a:pt x="103205" y="5354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8039100" y="3943350"/>
            <a:ext cx="109537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JSP &amp; JSTL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39100" y="4171950"/>
            <a:ext cx="1085850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Vistas dinámicas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63790" y="4798696"/>
            <a:ext cx="4179570" cy="579120"/>
          </a:xfrm>
          <a:custGeom>
            <a:avLst/>
            <a:gdLst/>
            <a:ahLst/>
            <a:cxnLst/>
            <a:rect l="l" t="t" r="r" b="b"/>
            <a:pathLst>
              <a:path w="4179570" h="5791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502919"/>
                </a:lnTo>
                <a:cubicBezTo>
                  <a:pt x="4179570" y="545004"/>
                  <a:pt x="4145454" y="579120"/>
                  <a:pt x="41033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7543800" y="48977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7698810" y="593788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8039100" y="4878705"/>
            <a:ext cx="98107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JDBC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39100" y="5107305"/>
            <a:ext cx="971550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Conexión a BD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63790" y="5734051"/>
            <a:ext cx="4179570" cy="579120"/>
          </a:xfrm>
          <a:custGeom>
            <a:avLst/>
            <a:gdLst/>
            <a:ahLst/>
            <a:cxnLst/>
            <a:rect l="l" t="t" r="r" b="b"/>
            <a:pathLst>
              <a:path w="4179570" h="5791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502919"/>
                </a:lnTo>
                <a:cubicBezTo>
                  <a:pt x="4179570" y="545004"/>
                  <a:pt x="4145454" y="579120"/>
                  <a:pt x="410336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4A6C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7543800" y="583311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7661672" y="593788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8039100" y="5814061"/>
            <a:ext cx="157162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GlassFish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39100" y="6042661"/>
            <a:ext cx="1562100" cy="190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Servidor de aplicaciones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33625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14573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Objetivos del Proyecto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20193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0" y="17383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14400" y="2676525"/>
            <a:ext cx="483060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683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General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914400" y="3048000"/>
            <a:ext cx="46005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3257550"/>
            <a:ext cx="46005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Desarrollar una aplicación web funcional para la gestión eficiente de inventario, aplicando estándares de la industria como el patrón de diseño MVC y tecnologías Java EE.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2676525"/>
            <a:ext cx="483060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683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677025" y="3048000"/>
            <a:ext cx="46005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6955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95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810375" y="32551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867525" y="3257550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Diseñar una base de datos relacional optimizada.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810375" y="352663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67525" y="3529012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Implementar la capa Modelo con POJOs y DAOs.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810375" y="379809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867525" y="3800475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Desarrollar Controladores (Servlets) para el flujo lógico.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810375" y="43410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867525" y="4343400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Crear Vistas dinámicas e intuitivas con JSP/JSTL.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810375" y="461248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867525" y="4614862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Asegurar el despliegue correcto en servidor GlassFish.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Marco Teórico: Patrón MVC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334125" y="1724025"/>
            <a:ext cx="55306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en Tres Capas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334125" y="2181225"/>
            <a:ext cx="5267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Separación lógica para garantizar mantenibilidad y escalabilidad: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334125" y="2967037"/>
            <a:ext cx="5267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6837"/>
                </a:solidFill>
                <a:latin typeface="Roboto"/>
                <a:ea typeface="Roboto"/>
                <a:cs typeface="Roboto"/>
                <a:sym typeface="Roboto"/>
              </a:rPr>
              <a:t>Modelo: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Lógica de negocio y acceso a datos (Entidades, DAOs).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334125" y="3381375"/>
            <a:ext cx="5267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6837"/>
                </a:solidFill>
                <a:latin typeface="Roboto"/>
                <a:ea typeface="Roboto"/>
                <a:cs typeface="Roboto"/>
                <a:sym typeface="Roboto"/>
              </a:rPr>
              <a:t>Vista: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Interfaz de usuario (JSP, JSTL, CSS).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334125" y="3795712"/>
            <a:ext cx="5267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6837"/>
                </a:solidFill>
                <a:latin typeface="Roboto"/>
                <a:ea typeface="Roboto"/>
                <a:cs typeface="Roboto"/>
                <a:sym typeface="Roboto"/>
              </a:rPr>
              <a:t>Controlador: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Intermediario que procesa peticiones (Servlets).</a:t>
            </a:r>
            <a:endParaRPr/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1105CD51-C1AD-2604-CE76-7A19A6760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378" y="1615238"/>
            <a:ext cx="2579370" cy="4090035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10B86B63-6F2F-AE20-A518-062836BA5343}"/>
              </a:ext>
            </a:extLst>
          </p:cNvPr>
          <p:cNvSpPr/>
          <p:nvPr/>
        </p:nvSpPr>
        <p:spPr>
          <a:xfrm>
            <a:off x="6230304" y="4880408"/>
            <a:ext cx="901065" cy="748665"/>
          </a:xfrm>
          <a:custGeom>
            <a:avLst/>
            <a:gdLst/>
            <a:ahLst/>
            <a:cxnLst/>
            <a:rect l="l" t="t" r="r" b="b"/>
            <a:pathLst>
              <a:path w="901065" h="748665">
                <a:moveTo>
                  <a:pt x="114299" y="0"/>
                </a:moveTo>
                <a:lnTo>
                  <a:pt x="786766" y="0"/>
                </a:lnTo>
                <a:cubicBezTo>
                  <a:pt x="849849" y="0"/>
                  <a:pt x="901065" y="51216"/>
                  <a:pt x="901065" y="114299"/>
                </a:cubicBezTo>
                <a:lnTo>
                  <a:pt x="901065" y="634366"/>
                </a:lnTo>
                <a:cubicBezTo>
                  <a:pt x="901065" y="697492"/>
                  <a:pt x="849892" y="748665"/>
                  <a:pt x="7867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B88013E3-79CE-FCFC-8653-845623459F47}"/>
              </a:ext>
            </a:extLst>
          </p:cNvPr>
          <p:cNvSpPr/>
          <p:nvPr/>
        </p:nvSpPr>
        <p:spPr>
          <a:xfrm>
            <a:off x="6579872" y="50251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EE48A3A-EB82-F3D8-C3B7-0260D30377C3}"/>
              </a:ext>
            </a:extLst>
          </p:cNvPr>
          <p:cNvSpPr/>
          <p:nvPr/>
        </p:nvSpPr>
        <p:spPr>
          <a:xfrm>
            <a:off x="6448427" y="5291888"/>
            <a:ext cx="533400" cy="1905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CB0677F-DAD4-517B-4640-30B6B74B7339}"/>
              </a:ext>
            </a:extLst>
          </p:cNvPr>
          <p:cNvSpPr/>
          <p:nvPr/>
        </p:nvSpPr>
        <p:spPr>
          <a:xfrm>
            <a:off x="6257093" y="5710988"/>
            <a:ext cx="904875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Navegador Web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B486D9AC-E2AC-59EB-146F-9300EDE985B8}"/>
              </a:ext>
            </a:extLst>
          </p:cNvPr>
          <p:cNvSpPr/>
          <p:nvPr/>
        </p:nvSpPr>
        <p:spPr>
          <a:xfrm>
            <a:off x="7318059" y="525366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8D8C14A-867A-3393-8220-ADDAA447227E}"/>
              </a:ext>
            </a:extLst>
          </p:cNvPr>
          <p:cNvSpPr/>
          <p:nvPr/>
        </p:nvSpPr>
        <p:spPr>
          <a:xfrm>
            <a:off x="7735254" y="4804208"/>
            <a:ext cx="1053465" cy="901065"/>
          </a:xfrm>
          <a:custGeom>
            <a:avLst/>
            <a:gdLst/>
            <a:ahLst/>
            <a:cxnLst/>
            <a:rect l="l" t="t" r="r" b="b"/>
            <a:pathLst>
              <a:path w="1053465" h="901065">
                <a:moveTo>
                  <a:pt x="114300" y="0"/>
                </a:moveTo>
                <a:lnTo>
                  <a:pt x="939165" y="0"/>
                </a:lnTo>
                <a:cubicBezTo>
                  <a:pt x="1002291" y="0"/>
                  <a:pt x="1053465" y="51174"/>
                  <a:pt x="1053465" y="114300"/>
                </a:cubicBezTo>
                <a:lnTo>
                  <a:pt x="1053465" y="786765"/>
                </a:lnTo>
                <a:cubicBezTo>
                  <a:pt x="1053465" y="849891"/>
                  <a:pt x="1002291" y="901065"/>
                  <a:pt x="939165" y="901065"/>
                </a:cubicBezTo>
                <a:lnTo>
                  <a:pt x="114300" y="901065"/>
                </a:lnTo>
                <a:cubicBezTo>
                  <a:pt x="51174" y="901065"/>
                  <a:pt x="0" y="849891"/>
                  <a:pt x="0" y="78676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2839525-29F9-289E-20B3-158846E57A9E}"/>
              </a:ext>
            </a:extLst>
          </p:cNvPr>
          <p:cNvSpPr/>
          <p:nvPr/>
        </p:nvSpPr>
        <p:spPr>
          <a:xfrm>
            <a:off x="8161022" y="49299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F4915AD-7AD1-5816-F1BC-796A2DF066CA}"/>
              </a:ext>
            </a:extLst>
          </p:cNvPr>
          <p:cNvSpPr/>
          <p:nvPr/>
        </p:nvSpPr>
        <p:spPr>
          <a:xfrm>
            <a:off x="7940041" y="5196638"/>
            <a:ext cx="638175" cy="381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GlassFish</a:t>
            </a:r>
            <a:endParaRPr lang="en-US" sz="1600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0091A3CB-0BE3-4C1B-4FA1-BA2B9DDD3685}"/>
              </a:ext>
            </a:extLst>
          </p:cNvPr>
          <p:cNvSpPr/>
          <p:nvPr/>
        </p:nvSpPr>
        <p:spPr>
          <a:xfrm>
            <a:off x="7806096" y="5787188"/>
            <a:ext cx="97155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Servlet Container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54A70445-6B32-38B7-0B21-8D2FA7DF66C4}"/>
              </a:ext>
            </a:extLst>
          </p:cNvPr>
          <p:cNvSpPr/>
          <p:nvPr/>
        </p:nvSpPr>
        <p:spPr>
          <a:xfrm>
            <a:off x="8975409" y="525366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3BA9A30-3928-7624-0CAC-9324B0EC6C4E}"/>
              </a:ext>
            </a:extLst>
          </p:cNvPr>
          <p:cNvSpPr/>
          <p:nvPr/>
        </p:nvSpPr>
        <p:spPr>
          <a:xfrm>
            <a:off x="9392604" y="4880408"/>
            <a:ext cx="901065" cy="748665"/>
          </a:xfrm>
          <a:custGeom>
            <a:avLst/>
            <a:gdLst/>
            <a:ahLst/>
            <a:cxnLst/>
            <a:rect l="l" t="t" r="r" b="b"/>
            <a:pathLst>
              <a:path w="901065" h="748665">
                <a:moveTo>
                  <a:pt x="114299" y="0"/>
                </a:moveTo>
                <a:lnTo>
                  <a:pt x="786766" y="0"/>
                </a:lnTo>
                <a:cubicBezTo>
                  <a:pt x="849849" y="0"/>
                  <a:pt x="901065" y="51216"/>
                  <a:pt x="901065" y="114299"/>
                </a:cubicBezTo>
                <a:lnTo>
                  <a:pt x="901065" y="634366"/>
                </a:lnTo>
                <a:cubicBezTo>
                  <a:pt x="901065" y="697492"/>
                  <a:pt x="849892" y="748665"/>
                  <a:pt x="7867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A209197B-38CE-A58A-0B0F-89BEEA61C8DC}"/>
              </a:ext>
            </a:extLst>
          </p:cNvPr>
          <p:cNvSpPr/>
          <p:nvPr/>
        </p:nvSpPr>
        <p:spPr>
          <a:xfrm>
            <a:off x="9742172" y="50251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/>
          <a:lstStyle/>
          <a:p>
            <a:endParaRPr lang="es-MX">
              <a:solidFill>
                <a:schemeClr val="bg1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E8A272D-90D7-E1E8-3369-47C0BA855146}"/>
              </a:ext>
            </a:extLst>
          </p:cNvPr>
          <p:cNvSpPr/>
          <p:nvPr/>
        </p:nvSpPr>
        <p:spPr>
          <a:xfrm>
            <a:off x="9620609" y="5291888"/>
            <a:ext cx="514350" cy="1905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CF4A24EF-C3CE-75EF-9F1A-7188DD1897A9}"/>
              </a:ext>
            </a:extLst>
          </p:cNvPr>
          <p:cNvSpPr/>
          <p:nvPr/>
        </p:nvSpPr>
        <p:spPr>
          <a:xfrm>
            <a:off x="9463327" y="5710988"/>
            <a:ext cx="81915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Datos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Tecnología: JDBC (Java Database Connectivity)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2066925"/>
            <a:ext cx="483060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683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Conexión a Datos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914400" y="2438400"/>
            <a:ext cx="46005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14400" y="2647950"/>
            <a:ext cx="46005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API estándar de Java que permite la conexión y ejecución de consultas sobre bases de datos relacionales.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14400" y="3643312"/>
            <a:ext cx="46005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En este proyecto se utiliza para: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47750" y="40933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04900" y="4095750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Establecer conexión segura con MySQL.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47750" y="436483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104900" y="4367212"/>
            <a:ext cx="4410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Ejecutar sentencias SQL (INSERT, UPDATE, DELETE).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47750" y="463629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04900" y="4638675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Prevenir inyecciones SQL mediante PreparedStatement.</a:t>
            </a:r>
            <a:endParaRPr/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98821087-F87A-9CB0-958A-AC4795BD5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1912751"/>
            <a:ext cx="4610100" cy="405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9343"/>
            <a:ext cx="5405437" cy="299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369343"/>
            <a:ext cx="5405437" cy="299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1493043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Tecnología: JSP &amp; JSTL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2055018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715000" y="1774031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0843" y="266461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844040" y="3474243"/>
            <a:ext cx="286035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JSP (JavaServer Pages)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71525" y="4074318"/>
            <a:ext cx="5005387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Tecnología para crear contenido web dinámico mezclando HTML y código Java. Permite la generación de vistas en el servidor.</a:t>
            </a:r>
            <a:endParaRPr/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84406" y="266461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237571" y="3474243"/>
            <a:ext cx="33604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JSTL (Standard Tag Library)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415087" y="4074318"/>
            <a:ext cx="5005387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Conjunto de etiquetas estándar que reemplazan los </a:t>
            </a:r>
            <a:r>
              <a:rPr lang="en-US" sz="1425" b="0" i="1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scriptlets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de Java, haciendo el código más limpio. Se usa para bucles (c:forEach) y condiciones.</a:t>
            </a:r>
            <a:endParaRPr/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5631" y="282654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03468" y="2826543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2725" y="985837"/>
            <a:ext cx="7626548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109537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Diseño de Base de Datos: Schema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671512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0" y="390525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2282725" y="6367462"/>
            <a:ext cx="76265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Esquema relacional en MySQL Workbench mostrando las tablas y relaciones.</a:t>
            </a:r>
            <a:endParaRPr/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6BFA8E7-D469-F33D-ED77-3565D8A20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725" y="604837"/>
            <a:ext cx="7106653" cy="55717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20669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Detalle de Tablas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26289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0" y="23479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20"/>
          <p:cNvGraphicFramePr/>
          <p:nvPr/>
        </p:nvGraphicFramePr>
        <p:xfrm>
          <a:off x="2947987" y="2943225"/>
          <a:ext cx="6296025" cy="1985290"/>
        </p:xfrm>
        <a:graphic>
          <a:graphicData uri="http://schemas.openxmlformats.org/drawingml/2006/table">
            <a:tbl>
              <a:tblPr firstRow="1" bandRow="1">
                <a:noFill/>
                <a:tableStyleId>{6B915A57-8C81-4C7C-9BF7-17460A90C7BD}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Entidad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Clave Primaria (PK)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Atributos Principales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Relaciones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Proveedor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idProveedor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nombre, ruc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Fuente de productos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Bodega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idBodega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nombre, ubicacion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Destino de almacenamiento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Ingreso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idIngreso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fecha, cantidad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FK: idProveedor, idBodega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(ON DELETE CASCADE)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6" name="Google Shape;216;p20"/>
          <p:cNvSpPr/>
          <p:nvPr/>
        </p:nvSpPr>
        <p:spPr>
          <a:xfrm>
            <a:off x="2947987" y="3757612"/>
            <a:ext cx="942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890962" y="375761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472112" y="375761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129462" y="3757612"/>
            <a:ext cx="2114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947987" y="4176712"/>
            <a:ext cx="942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890962" y="417671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472112" y="417671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129462" y="4176712"/>
            <a:ext cx="2114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947987" y="4776787"/>
            <a:ext cx="942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890962" y="4776787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472112" y="47767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129462" y="4776787"/>
            <a:ext cx="2114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Gestión de Dependencias (pom.xml)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190500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 archivo pom.xml define las bibliotecas necesarias para el funcionamiento del proyecto:</a:t>
            </a:r>
            <a:endParaRPr/>
          </a:p>
        </p:txBody>
      </p:sp>
      <p:pic>
        <p:nvPicPr>
          <p:cNvPr id="259" name="Google Shape;25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3133" y="1733550"/>
            <a:ext cx="5208359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904875" y="2628900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Jakarta Servlet API: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Para el desarrollo de controladores.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904875" y="3043237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Jakarta JSP API: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Para el motor de vistas.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04875" y="3457575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JSTL: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Biblioteca de etiquetas estándar.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04875" y="3871912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MySQL Connector: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Driver JDBC para la base de datos.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57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71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86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004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Descriptor de Despliegue (web.xml)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44777"/>
            <a:ext cx="5267325" cy="2244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6334125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Configuración Global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334125" y="2181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 archivo web.xml es crucial para la configuración del servidor de aplicaciones.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334125" y="3267075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Define el punto de entrada de la aplicación mediante la etiqueta welcome-file-list, asegurando que index.jsp sea la primera página que visualiza el usuario al acceder al contexto raíz.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Capa Modelo (Entidades)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Clases</a:t>
            </a:r>
            <a:endParaRPr dirty="0"/>
          </a:p>
        </p:txBody>
      </p:sp>
      <p:sp>
        <p:nvSpPr>
          <p:cNvPr id="291" name="Google Shape;291;p24"/>
          <p:cNvSpPr txBox="1"/>
          <p:nvPr/>
        </p:nvSpPr>
        <p:spPr>
          <a:xfrm>
            <a:off x="571500" y="2181225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Representación orientada a objetos de las tablas de la base de datos. Incluyen constructores vacíos y parametrizados, así como métodos Getters y Setters.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3538537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Ejemplo: Proveedor.java</a:t>
            </a:r>
            <a:endParaRPr/>
          </a:p>
        </p:txBody>
      </p:sp>
      <p:pic>
        <p:nvPicPr>
          <p:cNvPr id="293" name="Google Shape;29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82198" y="1733550"/>
            <a:ext cx="3590228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895350" y="398859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952500" y="399097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idProveedor (Long)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895350" y="426005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952500" y="426243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nombre (String)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895350" y="45315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952500" y="453390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ruc (String)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Patrón Singleton: Conexión DB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469" y="1733550"/>
            <a:ext cx="4858437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6334125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Db.java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334125" y="2181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Centraliza la lógica de conexión para evitar duplicidad de código y optimizar recursos.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6667500" y="2905125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Define URL, Usuario y Contraseña como constantes.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667500" y="3319462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Método estático getConnection().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667500" y="3733800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Carga el driver com.mysql.cj.jdbc.Driver.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667500" y="4148137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Manejo de excepciones SQLException.</a:t>
            </a:r>
            <a:endParaRPr/>
          </a:p>
        </p:txBody>
      </p:sp>
      <p:pic>
        <p:nvPicPr>
          <p:cNvPr id="316" name="Google Shape;31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33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48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762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Patrón DAO (Data Access Object)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Abstracción de Datos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571500" y="2181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Las clases DAO encapsulan las consultas SQL, separando la lógica de base de datos del resto de la aplicación.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571500" y="2905125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Operaciones Implementadas:</a:t>
            </a:r>
            <a:endParaRPr/>
          </a:p>
        </p:txBody>
      </p:sp>
      <p:pic>
        <p:nvPicPr>
          <p:cNvPr id="332" name="Google Shape;33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9026" y="1733550"/>
            <a:ext cx="4676573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895350" y="335518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952500" y="3357562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findAll(): Listar registros.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895350" y="362664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952500" y="362902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findById(): Buscar por ID.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895350" y="389810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952500" y="390048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insert(): Guardar nuevo registro.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895350" y="416956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952500" y="417195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update(): Modificar existente.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895350" y="444103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952500" y="4443412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delete(): Eliminar registro.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5242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233612"/>
            <a:ext cx="35242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233612"/>
            <a:ext cx="352425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 txBox="1"/>
          <p:nvPr/>
        </p:nvSpPr>
        <p:spPr>
          <a:xfrm>
            <a:off x="571500" y="1357312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Capa Controlador (Servlets)</a:t>
            </a:r>
            <a:endParaRPr/>
          </a:p>
        </p:txBody>
      </p:sp>
      <p:sp>
        <p:nvSpPr>
          <p:cNvPr id="352" name="Google Shape;352;p27"/>
          <p:cNvSpPr/>
          <p:nvPr/>
        </p:nvSpPr>
        <p:spPr>
          <a:xfrm>
            <a:off x="571500" y="1919287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5715000" y="1638300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1878568" y="3338512"/>
            <a:ext cx="9101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doGet()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771525" y="3938587"/>
            <a:ext cx="3124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Maneja las peticiones de navegación: listar registros, mostrar formularios de creación o edición y eliminar registros (con confirmación).</a:t>
            </a:r>
            <a:endParaRPr/>
          </a:p>
        </p:txBody>
      </p:sp>
      <p:pic>
        <p:nvPicPr>
          <p:cNvPr id="357" name="Google Shape;357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5590936" y="3338512"/>
            <a:ext cx="101012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doPost()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4533900" y="3938587"/>
            <a:ext cx="3124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Procesa el envío de formularios para insertar o actualizar información en la base de datos, invocando al DAO correspondiente.</a:t>
            </a:r>
            <a:endParaRPr/>
          </a:p>
        </p:txBody>
      </p:sp>
      <p:pic>
        <p:nvPicPr>
          <p:cNvPr id="360" name="Google Shape;360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0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7"/>
          <p:cNvSpPr txBox="1"/>
          <p:nvPr/>
        </p:nvSpPr>
        <p:spPr>
          <a:xfrm>
            <a:off x="9003268" y="3338512"/>
            <a:ext cx="17102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Enrutamiento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8296275" y="3938587"/>
            <a:ext cx="3124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Redirige al usuario a la vista JSP apropiada (RequestDispatcher.forward) o a otra URL (response.sendRedirect).</a:t>
            </a:r>
            <a:endParaRPr/>
          </a:p>
        </p:txBody>
      </p:sp>
      <p:pic>
        <p:nvPicPr>
          <p:cNvPr id="363" name="Google Shape;363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62175" y="26908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3600" y="269081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86925" y="269081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Diseño Visual (CSS3)</a:t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2736" y="1733550"/>
            <a:ext cx="3623903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 txBox="1"/>
          <p:nvPr/>
        </p:nvSpPr>
        <p:spPr>
          <a:xfrm>
            <a:off x="6334125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Estilo Moderno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6334125" y="2181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 implementó un diseño responsivo utilizando variables CSS (:root) para mantener consistencia.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6667500" y="2905125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Paleta: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Colores institucionales y tonos neutros.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6667500" y="3319462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Componentes: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Tarjetas (Cards), Botones con estados hover, Tablas estilizadas.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6667500" y="4005262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Layout: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Flexbox y Grid para la disposición de elementos.</a:t>
            </a:r>
            <a:endParaRPr/>
          </a:p>
        </p:txBody>
      </p:sp>
      <p:pic>
        <p:nvPicPr>
          <p:cNvPr id="381" name="Google Shape;38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33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48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338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6512" y="1188243"/>
            <a:ext cx="70389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/>
        </p:nvSpPr>
        <p:spPr>
          <a:xfrm>
            <a:off x="571500" y="311943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Interfaz: Página de Inicio</a:t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571500" y="873918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5715000" y="592931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2576512" y="6093618"/>
            <a:ext cx="70389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Dashboard principal con accesos directos a los módulos del sistema.</a:t>
            </a:r>
            <a:endParaRPr/>
          </a:p>
        </p:txBody>
      </p:sp>
      <p:pic>
        <p:nvPicPr>
          <p:cNvPr id="394" name="Google Shape;39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6037" y="1812647"/>
            <a:ext cx="7019925" cy="3513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0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Interfaz: Gestión de Proveedores</a:t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60114"/>
            <a:ext cx="5267325" cy="261407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6334125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Funcionalidad CRUD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6334125" y="2181225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Las vistas permiten la administración completa de los datos.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6657975" y="296465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6715125" y="296703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Tabla con listado de registros paginado.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6657975" y="32361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6715125" y="323850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Botones de acción rápida: </a:t>
            </a: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Editar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Eliminar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6657975" y="350758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6715125" y="3509962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Formularios modales o dedicados para el registro de nuevos datos.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6657975" y="405050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6715125" y="405288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Feedback visual de acciones.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40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1"/>
          <p:cNvSpPr txBox="1"/>
          <p:nvPr/>
        </p:nvSpPr>
        <p:spPr>
          <a:xfrm>
            <a:off x="571500" y="847725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Interfaz: Registro de Ingresos</a:t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5715000" y="1128712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Formulario Complejo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571500" y="2181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 módulo de ingresos demuestra la integración de múltiples entidades.</a:t>
            </a:r>
            <a:endParaRPr/>
          </a:p>
        </p:txBody>
      </p:sp>
      <p:pic>
        <p:nvPicPr>
          <p:cNvPr id="426" name="Google Shape;426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621688"/>
            <a:ext cx="5267325" cy="249092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904875" y="2905125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Selects Dinámicos: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Carga automática de Proveedores y Bodegas desde la base de datos.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904875" y="3590925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Validación: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Tipos de datos correctos para fechas y cantidades.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904875" y="4276725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Lógica de Negocio: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Asociación de claves foráneas en la transacción.</a:t>
            </a:r>
            <a:endParaRPr/>
          </a:p>
        </p:txBody>
      </p:sp>
      <p:pic>
        <p:nvPicPr>
          <p:cNvPr id="430" name="Google Shape;43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33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19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053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2"/>
          <p:cNvSpPr txBox="1"/>
          <p:nvPr/>
        </p:nvSpPr>
        <p:spPr>
          <a:xfrm>
            <a:off x="571500" y="1240631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D26"/>
                </a:solidFill>
                <a:latin typeface="Montserrat"/>
                <a:ea typeface="Montserrat"/>
                <a:cs typeface="Montserrat"/>
                <a:sym typeface="Montserrat"/>
              </a:rPr>
              <a:t>Despliegue y Ejecución</a:t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571500" y="1802606"/>
            <a:ext cx="1104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5715000" y="1521618"/>
            <a:ext cx="762000" cy="28575"/>
          </a:xfrm>
          <a:prstGeom prst="rect">
            <a:avLst/>
          </a:prstGeom>
          <a:solidFill>
            <a:srgbClr val="C1D7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2009775" y="5807868"/>
            <a:ext cx="81724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Aplicación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empaquetada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como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WAR y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desplegada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exitosamente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servidor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25" b="0" i="0" u="none" strike="noStrike" cap="none" dirty="0" err="1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GlassFish</a:t>
            </a:r>
            <a:r>
              <a:rPr lang="en-US" sz="1425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444" name="Google Shape;44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047" y="2016918"/>
            <a:ext cx="5526177" cy="371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0777" y="2045495"/>
            <a:ext cx="5179527" cy="362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1512" y="650722"/>
            <a:ext cx="11685883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6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1512" y="1192990"/>
            <a:ext cx="867629" cy="36151"/>
          </a:xfrm>
          <a:custGeom>
            <a:avLst/>
            <a:gdLst/>
            <a:ahLst/>
            <a:cxnLst/>
            <a:rect l="l" t="t" r="r" b="b"/>
            <a:pathLst>
              <a:path w="867629" h="36151">
                <a:moveTo>
                  <a:pt x="0" y="0"/>
                </a:moveTo>
                <a:lnTo>
                  <a:pt x="867629" y="0"/>
                </a:lnTo>
                <a:lnTo>
                  <a:pt x="867629" y="36151"/>
                </a:lnTo>
                <a:lnTo>
                  <a:pt x="0" y="36151"/>
                </a:lnTo>
                <a:lnTo>
                  <a:pt x="0" y="0"/>
                </a:lnTo>
                <a:close/>
              </a:path>
            </a:pathLst>
          </a:custGeom>
          <a:noFill/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365127" y="1377362"/>
            <a:ext cx="11467168" cy="1471355"/>
          </a:xfrm>
          <a:custGeom>
            <a:avLst/>
            <a:gdLst/>
            <a:ahLst/>
            <a:cxnLst/>
            <a:rect l="l" t="t" r="r" b="b"/>
            <a:pathLst>
              <a:path w="11467168" h="1471355">
                <a:moveTo>
                  <a:pt x="144605" y="0"/>
                </a:moveTo>
                <a:lnTo>
                  <a:pt x="11322563" y="0"/>
                </a:lnTo>
                <a:cubicBezTo>
                  <a:pt x="11402426" y="0"/>
                  <a:pt x="11467168" y="64742"/>
                  <a:pt x="11467168" y="144605"/>
                </a:cubicBezTo>
                <a:lnTo>
                  <a:pt x="11467168" y="1326750"/>
                </a:lnTo>
                <a:cubicBezTo>
                  <a:pt x="11467168" y="1406613"/>
                  <a:pt x="11402426" y="1471355"/>
                  <a:pt x="11322563" y="1471355"/>
                </a:cubicBezTo>
                <a:lnTo>
                  <a:pt x="144605" y="1471355"/>
                </a:lnTo>
                <a:cubicBezTo>
                  <a:pt x="64742" y="1471355"/>
                  <a:pt x="0" y="1406613"/>
                  <a:pt x="0" y="1326750"/>
                </a:cubicBezTo>
                <a:lnTo>
                  <a:pt x="0" y="144605"/>
                </a:lnTo>
                <a:cubicBezTo>
                  <a:pt x="0" y="64795"/>
                  <a:pt x="64795" y="0"/>
                  <a:pt x="144605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553114" y="1565346"/>
            <a:ext cx="495272" cy="495272"/>
          </a:xfrm>
          <a:custGeom>
            <a:avLst/>
            <a:gdLst/>
            <a:ahLst/>
            <a:cxnLst/>
            <a:rect l="l" t="t" r="r" b="b"/>
            <a:pathLst>
              <a:path w="495272" h="495272">
                <a:moveTo>
                  <a:pt x="108455" y="0"/>
                </a:moveTo>
                <a:lnTo>
                  <a:pt x="386817" y="0"/>
                </a:lnTo>
                <a:cubicBezTo>
                  <a:pt x="446675" y="0"/>
                  <a:pt x="495272" y="48597"/>
                  <a:pt x="495272" y="108455"/>
                </a:cubicBezTo>
                <a:lnTo>
                  <a:pt x="495272" y="386817"/>
                </a:lnTo>
                <a:cubicBezTo>
                  <a:pt x="495272" y="446675"/>
                  <a:pt x="446675" y="495272"/>
                  <a:pt x="386817" y="495272"/>
                </a:cubicBezTo>
                <a:lnTo>
                  <a:pt x="108455" y="495272"/>
                </a:lnTo>
                <a:cubicBezTo>
                  <a:pt x="48597" y="495272"/>
                  <a:pt x="0" y="446675"/>
                  <a:pt x="0" y="386817"/>
                </a:cubicBezTo>
                <a:lnTo>
                  <a:pt x="0" y="108455"/>
                </a:lnTo>
                <a:cubicBezTo>
                  <a:pt x="0" y="48597"/>
                  <a:pt x="48597" y="0"/>
                  <a:pt x="108455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694104" y="1706336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08454" y="216907"/>
                </a:moveTo>
                <a:cubicBezTo>
                  <a:pt x="168311" y="216907"/>
                  <a:pt x="216907" y="168311"/>
                  <a:pt x="216907" y="108454"/>
                </a:cubicBezTo>
                <a:cubicBezTo>
                  <a:pt x="216907" y="48596"/>
                  <a:pt x="168311" y="0"/>
                  <a:pt x="108454" y="0"/>
                </a:cubicBezTo>
                <a:cubicBezTo>
                  <a:pt x="48596" y="0"/>
                  <a:pt x="0" y="48596"/>
                  <a:pt x="0" y="108454"/>
                </a:cubicBezTo>
                <a:cubicBezTo>
                  <a:pt x="0" y="168311"/>
                  <a:pt x="48596" y="216907"/>
                  <a:pt x="108454" y="216907"/>
                </a:cubicBezTo>
                <a:close/>
                <a:moveTo>
                  <a:pt x="144209" y="90110"/>
                </a:moveTo>
                <a:lnTo>
                  <a:pt x="110318" y="144337"/>
                </a:lnTo>
                <a:cubicBezTo>
                  <a:pt x="108538" y="147175"/>
                  <a:pt x="105488" y="148954"/>
                  <a:pt x="102141" y="149124"/>
                </a:cubicBezTo>
                <a:cubicBezTo>
                  <a:pt x="98795" y="149293"/>
                  <a:pt x="95575" y="147768"/>
                  <a:pt x="93584" y="145057"/>
                </a:cubicBezTo>
                <a:lnTo>
                  <a:pt x="73249" y="117943"/>
                </a:lnTo>
                <a:cubicBezTo>
                  <a:pt x="69859" y="113453"/>
                  <a:pt x="70791" y="107098"/>
                  <a:pt x="75282" y="103709"/>
                </a:cubicBezTo>
                <a:cubicBezTo>
                  <a:pt x="79773" y="100320"/>
                  <a:pt x="86127" y="101252"/>
                  <a:pt x="89517" y="105742"/>
                </a:cubicBezTo>
                <a:lnTo>
                  <a:pt x="100955" y="120994"/>
                </a:lnTo>
                <a:lnTo>
                  <a:pt x="126967" y="79349"/>
                </a:lnTo>
                <a:cubicBezTo>
                  <a:pt x="129933" y="74604"/>
                  <a:pt x="136203" y="73121"/>
                  <a:pt x="140990" y="76129"/>
                </a:cubicBezTo>
                <a:cubicBezTo>
                  <a:pt x="145777" y="79137"/>
                  <a:pt x="147217" y="85365"/>
                  <a:pt x="144209" y="90152"/>
                </a:cubicBezTo>
                <a:close/>
              </a:path>
            </a:pathLst>
          </a:custGeom>
          <a:solidFill>
            <a:schemeClr val="tx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200221" y="1561731"/>
            <a:ext cx="10556157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Implementación Exitosa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00221" y="1959289"/>
            <a:ext cx="10520006" cy="7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latin typeface="MiSans" pitchFamily="34" charset="0"/>
                <a:ea typeface="MiSans" pitchFamily="34" charset="-122"/>
                <a:cs typeface="MiSans" pitchFamily="34" charset="-120"/>
              </a:rPr>
              <a:t>El proyecto logró implementar exitosamente un </a:t>
            </a:r>
            <a:r>
              <a:rPr lang="en-US" sz="1139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sistema web completo de gestión de compras</a:t>
            </a:r>
            <a:r>
              <a:rPr lang="en-US" sz="1139" dirty="0">
                <a:latin typeface="MiSans" pitchFamily="34" charset="0"/>
                <a:ea typeface="MiSans" pitchFamily="34" charset="-122"/>
                <a:cs typeface="MiSans" pitchFamily="34" charset="-120"/>
              </a:rPr>
              <a:t> utilizando arquitectura MVC. Se desarrollaron las tres capas de forma independiente pero coordinada: el Modelo maneja toda la lógica de acceso a datos mediante JDBC, la Vista presenta la información de forma clara con JSP y JSTL, y el Controlador orquesta el flujo de la aplicación mediante Servlets.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127" y="3000442"/>
            <a:ext cx="3721768" cy="1661149"/>
          </a:xfrm>
          <a:custGeom>
            <a:avLst/>
            <a:gdLst/>
            <a:ahLst/>
            <a:cxnLst/>
            <a:rect l="l" t="t" r="r" b="b"/>
            <a:pathLst>
              <a:path w="3721768" h="1661149">
                <a:moveTo>
                  <a:pt x="144603" y="0"/>
                </a:moveTo>
                <a:lnTo>
                  <a:pt x="3577165" y="0"/>
                </a:lnTo>
                <a:cubicBezTo>
                  <a:pt x="3657027" y="0"/>
                  <a:pt x="3721768" y="64741"/>
                  <a:pt x="3721768" y="144603"/>
                </a:cubicBezTo>
                <a:lnTo>
                  <a:pt x="3721768" y="1516546"/>
                </a:lnTo>
                <a:cubicBezTo>
                  <a:pt x="3721768" y="1596408"/>
                  <a:pt x="3657027" y="1661149"/>
                  <a:pt x="3577165" y="1661149"/>
                </a:cubicBezTo>
                <a:lnTo>
                  <a:pt x="144603" y="1661149"/>
                </a:lnTo>
                <a:cubicBezTo>
                  <a:pt x="64741" y="1661149"/>
                  <a:pt x="0" y="1596408"/>
                  <a:pt x="0" y="1516546"/>
                </a:cubicBezTo>
                <a:lnTo>
                  <a:pt x="0" y="144603"/>
                </a:lnTo>
                <a:cubicBezTo>
                  <a:pt x="0" y="64794"/>
                  <a:pt x="64794" y="0"/>
                  <a:pt x="144603" y="0"/>
                </a:cubicBezTo>
                <a:close/>
              </a:path>
            </a:pathLst>
          </a:custGeom>
          <a:noFill/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16962" y="3152275"/>
            <a:ext cx="422969" cy="422969"/>
          </a:xfrm>
          <a:custGeom>
            <a:avLst/>
            <a:gdLst/>
            <a:ahLst/>
            <a:cxnLst/>
            <a:rect l="l" t="t" r="r" b="b"/>
            <a:pathLst>
              <a:path w="422969" h="422969">
                <a:moveTo>
                  <a:pt x="108454" y="0"/>
                </a:moveTo>
                <a:lnTo>
                  <a:pt x="314516" y="0"/>
                </a:lnTo>
                <a:cubicBezTo>
                  <a:pt x="374413" y="0"/>
                  <a:pt x="422969" y="48556"/>
                  <a:pt x="422969" y="108454"/>
                </a:cubicBezTo>
                <a:lnTo>
                  <a:pt x="422969" y="314516"/>
                </a:lnTo>
                <a:cubicBezTo>
                  <a:pt x="422969" y="374413"/>
                  <a:pt x="374413" y="422969"/>
                  <a:pt x="314516" y="422969"/>
                </a:cubicBezTo>
                <a:lnTo>
                  <a:pt x="108454" y="422969"/>
                </a:lnTo>
                <a:cubicBezTo>
                  <a:pt x="48556" y="422969"/>
                  <a:pt x="0" y="374413"/>
                  <a:pt x="0" y="314516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39877" y="3275190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47237" y="12815"/>
                </a:moveTo>
                <a:cubicBezTo>
                  <a:pt x="51085" y="15498"/>
                  <a:pt x="52003" y="20794"/>
                  <a:pt x="49320" y="24607"/>
                </a:cubicBezTo>
                <a:lnTo>
                  <a:pt x="29549" y="52850"/>
                </a:lnTo>
                <a:cubicBezTo>
                  <a:pt x="28102" y="54898"/>
                  <a:pt x="25842" y="56204"/>
                  <a:pt x="23336" y="56416"/>
                </a:cubicBezTo>
                <a:cubicBezTo>
                  <a:pt x="20829" y="56628"/>
                  <a:pt x="18358" y="55780"/>
                  <a:pt x="16593" y="54015"/>
                </a:cubicBezTo>
                <a:lnTo>
                  <a:pt x="2471" y="39893"/>
                </a:lnTo>
                <a:cubicBezTo>
                  <a:pt x="-812" y="36575"/>
                  <a:pt x="-812" y="31209"/>
                  <a:pt x="2471" y="27890"/>
                </a:cubicBezTo>
                <a:cubicBezTo>
                  <a:pt x="5755" y="24572"/>
                  <a:pt x="11156" y="24607"/>
                  <a:pt x="14475" y="27890"/>
                </a:cubicBezTo>
                <a:lnTo>
                  <a:pt x="21465" y="34880"/>
                </a:lnTo>
                <a:lnTo>
                  <a:pt x="35445" y="14898"/>
                </a:lnTo>
                <a:cubicBezTo>
                  <a:pt x="38128" y="11050"/>
                  <a:pt x="43424" y="10132"/>
                  <a:pt x="47237" y="12815"/>
                </a:cubicBezTo>
                <a:close/>
                <a:moveTo>
                  <a:pt x="47237" y="69302"/>
                </a:moveTo>
                <a:cubicBezTo>
                  <a:pt x="51085" y="71985"/>
                  <a:pt x="52003" y="77280"/>
                  <a:pt x="49320" y="81093"/>
                </a:cubicBezTo>
                <a:lnTo>
                  <a:pt x="29549" y="109336"/>
                </a:lnTo>
                <a:cubicBezTo>
                  <a:pt x="28102" y="111384"/>
                  <a:pt x="25842" y="112690"/>
                  <a:pt x="23336" y="112902"/>
                </a:cubicBezTo>
                <a:cubicBezTo>
                  <a:pt x="20829" y="113114"/>
                  <a:pt x="18358" y="112266"/>
                  <a:pt x="16593" y="110501"/>
                </a:cubicBezTo>
                <a:lnTo>
                  <a:pt x="2471" y="96380"/>
                </a:lnTo>
                <a:cubicBezTo>
                  <a:pt x="-847" y="93061"/>
                  <a:pt x="-847" y="87695"/>
                  <a:pt x="2471" y="84412"/>
                </a:cubicBezTo>
                <a:cubicBezTo>
                  <a:pt x="5790" y="81128"/>
                  <a:pt x="11156" y="81093"/>
                  <a:pt x="14439" y="84412"/>
                </a:cubicBezTo>
                <a:lnTo>
                  <a:pt x="21429" y="91402"/>
                </a:lnTo>
                <a:lnTo>
                  <a:pt x="35410" y="71420"/>
                </a:lnTo>
                <a:cubicBezTo>
                  <a:pt x="38093" y="67572"/>
                  <a:pt x="43389" y="66654"/>
                  <a:pt x="47201" y="69337"/>
                </a:cubicBezTo>
                <a:close/>
                <a:moveTo>
                  <a:pt x="79081" y="33892"/>
                </a:moveTo>
                <a:cubicBezTo>
                  <a:pt x="79081" y="27643"/>
                  <a:pt x="84129" y="22595"/>
                  <a:pt x="90378" y="22595"/>
                </a:cubicBezTo>
                <a:lnTo>
                  <a:pt x="169459" y="22595"/>
                </a:lnTo>
                <a:cubicBezTo>
                  <a:pt x="175708" y="22595"/>
                  <a:pt x="180756" y="27643"/>
                  <a:pt x="180756" y="33892"/>
                </a:cubicBezTo>
                <a:cubicBezTo>
                  <a:pt x="180756" y="40141"/>
                  <a:pt x="175708" y="45189"/>
                  <a:pt x="169459" y="45189"/>
                </a:cubicBezTo>
                <a:lnTo>
                  <a:pt x="90378" y="45189"/>
                </a:lnTo>
                <a:cubicBezTo>
                  <a:pt x="84129" y="45189"/>
                  <a:pt x="79081" y="40141"/>
                  <a:pt x="79081" y="33892"/>
                </a:cubicBezTo>
                <a:close/>
                <a:moveTo>
                  <a:pt x="79081" y="90378"/>
                </a:moveTo>
                <a:cubicBezTo>
                  <a:pt x="79081" y="84129"/>
                  <a:pt x="84129" y="79081"/>
                  <a:pt x="90378" y="79081"/>
                </a:cubicBezTo>
                <a:lnTo>
                  <a:pt x="169459" y="79081"/>
                </a:lnTo>
                <a:cubicBezTo>
                  <a:pt x="175708" y="79081"/>
                  <a:pt x="180756" y="84129"/>
                  <a:pt x="180756" y="90378"/>
                </a:cubicBezTo>
                <a:cubicBezTo>
                  <a:pt x="180756" y="96627"/>
                  <a:pt x="175708" y="101675"/>
                  <a:pt x="169459" y="101675"/>
                </a:cubicBezTo>
                <a:lnTo>
                  <a:pt x="90378" y="101675"/>
                </a:lnTo>
                <a:cubicBezTo>
                  <a:pt x="84129" y="101675"/>
                  <a:pt x="79081" y="96627"/>
                  <a:pt x="79081" y="90378"/>
                </a:cubicBezTo>
                <a:close/>
                <a:moveTo>
                  <a:pt x="56486" y="146864"/>
                </a:moveTo>
                <a:cubicBezTo>
                  <a:pt x="56486" y="140616"/>
                  <a:pt x="61535" y="135567"/>
                  <a:pt x="67784" y="135567"/>
                </a:cubicBezTo>
                <a:lnTo>
                  <a:pt x="169459" y="135567"/>
                </a:lnTo>
                <a:cubicBezTo>
                  <a:pt x="175708" y="135567"/>
                  <a:pt x="180756" y="140616"/>
                  <a:pt x="180756" y="146864"/>
                </a:cubicBezTo>
                <a:cubicBezTo>
                  <a:pt x="180756" y="153113"/>
                  <a:pt x="175708" y="158162"/>
                  <a:pt x="169459" y="158162"/>
                </a:cubicBezTo>
                <a:lnTo>
                  <a:pt x="67784" y="158162"/>
                </a:lnTo>
                <a:cubicBezTo>
                  <a:pt x="61535" y="158162"/>
                  <a:pt x="56486" y="153113"/>
                  <a:pt x="56486" y="146864"/>
                </a:cubicBezTo>
                <a:close/>
                <a:moveTo>
                  <a:pt x="22595" y="132743"/>
                </a:moveTo>
                <a:cubicBezTo>
                  <a:pt x="30388" y="132743"/>
                  <a:pt x="36716" y="139070"/>
                  <a:pt x="36716" y="146864"/>
                </a:cubicBezTo>
                <a:cubicBezTo>
                  <a:pt x="36716" y="154658"/>
                  <a:pt x="30388" y="160986"/>
                  <a:pt x="22595" y="160986"/>
                </a:cubicBezTo>
                <a:cubicBezTo>
                  <a:pt x="14801" y="160986"/>
                  <a:pt x="8473" y="154658"/>
                  <a:pt x="8473" y="146864"/>
                </a:cubicBezTo>
                <a:cubicBezTo>
                  <a:pt x="8473" y="139070"/>
                  <a:pt x="14801" y="132743"/>
                  <a:pt x="22595" y="132743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055616" y="3239038"/>
            <a:ext cx="1202028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Funcionalidad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3347" y="3690929"/>
            <a:ext cx="3488593" cy="82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Las operaciones </a:t>
            </a:r>
            <a:r>
              <a:rPr lang="en-US" sz="996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CRUD funcionan correctamente</a:t>
            </a: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 para las tres entidades (Proveedor, Bodega, Ingreso), incluyendo validaciones básicas y manejo de relaciones mediante llaves foráneas.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7262" y="3000442"/>
            <a:ext cx="3721768" cy="1661149"/>
          </a:xfrm>
          <a:custGeom>
            <a:avLst/>
            <a:gdLst/>
            <a:ahLst/>
            <a:cxnLst/>
            <a:rect l="l" t="t" r="r" b="b"/>
            <a:pathLst>
              <a:path w="3721768" h="1661149">
                <a:moveTo>
                  <a:pt x="144603" y="0"/>
                </a:moveTo>
                <a:lnTo>
                  <a:pt x="3577165" y="0"/>
                </a:lnTo>
                <a:cubicBezTo>
                  <a:pt x="3657027" y="0"/>
                  <a:pt x="3721768" y="64741"/>
                  <a:pt x="3721768" y="144603"/>
                </a:cubicBezTo>
                <a:lnTo>
                  <a:pt x="3721768" y="1516546"/>
                </a:lnTo>
                <a:cubicBezTo>
                  <a:pt x="3721768" y="1596408"/>
                  <a:pt x="3657027" y="1661149"/>
                  <a:pt x="3577165" y="1661149"/>
                </a:cubicBezTo>
                <a:lnTo>
                  <a:pt x="144603" y="1661149"/>
                </a:lnTo>
                <a:cubicBezTo>
                  <a:pt x="64741" y="1661149"/>
                  <a:pt x="0" y="1596408"/>
                  <a:pt x="0" y="1516546"/>
                </a:cubicBezTo>
                <a:lnTo>
                  <a:pt x="0" y="144603"/>
                </a:lnTo>
                <a:cubicBezTo>
                  <a:pt x="0" y="64794"/>
                  <a:pt x="64794" y="0"/>
                  <a:pt x="144603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4389098" y="3152275"/>
            <a:ext cx="422969" cy="422969"/>
          </a:xfrm>
          <a:custGeom>
            <a:avLst/>
            <a:gdLst/>
            <a:ahLst/>
            <a:cxnLst/>
            <a:rect l="l" t="t" r="r" b="b"/>
            <a:pathLst>
              <a:path w="422969" h="422969">
                <a:moveTo>
                  <a:pt x="108454" y="0"/>
                </a:moveTo>
                <a:lnTo>
                  <a:pt x="314516" y="0"/>
                </a:lnTo>
                <a:cubicBezTo>
                  <a:pt x="374413" y="0"/>
                  <a:pt x="422969" y="48556"/>
                  <a:pt x="422969" y="108454"/>
                </a:cubicBezTo>
                <a:lnTo>
                  <a:pt x="422969" y="314516"/>
                </a:lnTo>
                <a:cubicBezTo>
                  <a:pt x="422969" y="374413"/>
                  <a:pt x="374413" y="422969"/>
                  <a:pt x="314516" y="422969"/>
                </a:cubicBezTo>
                <a:lnTo>
                  <a:pt x="108454" y="422969"/>
                </a:lnTo>
                <a:cubicBezTo>
                  <a:pt x="48556" y="422969"/>
                  <a:pt x="0" y="374413"/>
                  <a:pt x="0" y="314516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4500714" y="3275190"/>
            <a:ext cx="203351" cy="180756"/>
          </a:xfrm>
          <a:custGeom>
            <a:avLst/>
            <a:gdLst/>
            <a:ahLst/>
            <a:cxnLst/>
            <a:rect l="l" t="t" r="r" b="b"/>
            <a:pathLst>
              <a:path w="203351" h="180756">
                <a:moveTo>
                  <a:pt x="169635" y="3636"/>
                </a:moveTo>
                <a:lnTo>
                  <a:pt x="91472" y="55780"/>
                </a:lnTo>
                <a:cubicBezTo>
                  <a:pt x="81199" y="62629"/>
                  <a:pt x="74668" y="73750"/>
                  <a:pt x="73609" y="85894"/>
                </a:cubicBezTo>
                <a:cubicBezTo>
                  <a:pt x="95603" y="90413"/>
                  <a:pt x="112937" y="107748"/>
                  <a:pt x="117491" y="129777"/>
                </a:cubicBezTo>
                <a:cubicBezTo>
                  <a:pt x="129671" y="128718"/>
                  <a:pt x="140757" y="122187"/>
                  <a:pt x="147606" y="111913"/>
                </a:cubicBezTo>
                <a:lnTo>
                  <a:pt x="199714" y="33715"/>
                </a:lnTo>
                <a:cubicBezTo>
                  <a:pt x="202080" y="30150"/>
                  <a:pt x="203351" y="25984"/>
                  <a:pt x="203351" y="21677"/>
                </a:cubicBezTo>
                <a:cubicBezTo>
                  <a:pt x="203351" y="9709"/>
                  <a:pt x="193642" y="0"/>
                  <a:pt x="181674" y="0"/>
                </a:cubicBezTo>
                <a:cubicBezTo>
                  <a:pt x="177402" y="0"/>
                  <a:pt x="173201" y="1271"/>
                  <a:pt x="169635" y="3636"/>
                </a:cubicBezTo>
                <a:close/>
                <a:moveTo>
                  <a:pt x="101675" y="141216"/>
                </a:moveTo>
                <a:cubicBezTo>
                  <a:pt x="101675" y="119363"/>
                  <a:pt x="83988" y="101675"/>
                  <a:pt x="62135" y="101675"/>
                </a:cubicBezTo>
                <a:cubicBezTo>
                  <a:pt x="40282" y="101675"/>
                  <a:pt x="22595" y="119363"/>
                  <a:pt x="22595" y="141216"/>
                </a:cubicBezTo>
                <a:cubicBezTo>
                  <a:pt x="22595" y="142593"/>
                  <a:pt x="22665" y="143969"/>
                  <a:pt x="22806" y="145311"/>
                </a:cubicBezTo>
                <a:cubicBezTo>
                  <a:pt x="23442" y="151489"/>
                  <a:pt x="19205" y="158162"/>
                  <a:pt x="12992" y="158162"/>
                </a:cubicBezTo>
                <a:lnTo>
                  <a:pt x="11297" y="158162"/>
                </a:lnTo>
                <a:cubicBezTo>
                  <a:pt x="5048" y="158162"/>
                  <a:pt x="0" y="163210"/>
                  <a:pt x="0" y="169459"/>
                </a:cubicBezTo>
                <a:cubicBezTo>
                  <a:pt x="0" y="175708"/>
                  <a:pt x="5048" y="180756"/>
                  <a:pt x="11297" y="180756"/>
                </a:cubicBezTo>
                <a:lnTo>
                  <a:pt x="62135" y="180756"/>
                </a:lnTo>
                <a:cubicBezTo>
                  <a:pt x="83988" y="180756"/>
                  <a:pt x="101675" y="163069"/>
                  <a:pt x="101675" y="141216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4927751" y="3239038"/>
            <a:ext cx="614571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Diseño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85482" y="3690929"/>
            <a:ext cx="3488593" cy="61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La interfaz de usuario es </a:t>
            </a:r>
            <a:r>
              <a:rPr lang="en-US" sz="996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moderna, consistente y fácil de usar</a:t>
            </a: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 gracias al diseño CSS personalizado con variables, efectos visuales y responsive design.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09397" y="3000442"/>
            <a:ext cx="3721768" cy="1661149"/>
          </a:xfrm>
          <a:custGeom>
            <a:avLst/>
            <a:gdLst/>
            <a:ahLst/>
            <a:cxnLst/>
            <a:rect l="l" t="t" r="r" b="b"/>
            <a:pathLst>
              <a:path w="3721768" h="1661149">
                <a:moveTo>
                  <a:pt x="144603" y="0"/>
                </a:moveTo>
                <a:lnTo>
                  <a:pt x="3577165" y="0"/>
                </a:lnTo>
                <a:cubicBezTo>
                  <a:pt x="3657027" y="0"/>
                  <a:pt x="3721768" y="64741"/>
                  <a:pt x="3721768" y="144603"/>
                </a:cubicBezTo>
                <a:lnTo>
                  <a:pt x="3721768" y="1516546"/>
                </a:lnTo>
                <a:cubicBezTo>
                  <a:pt x="3721768" y="1596408"/>
                  <a:pt x="3657027" y="1661149"/>
                  <a:pt x="3577165" y="1661149"/>
                </a:cubicBezTo>
                <a:lnTo>
                  <a:pt x="144603" y="1661149"/>
                </a:lnTo>
                <a:cubicBezTo>
                  <a:pt x="64741" y="1661149"/>
                  <a:pt x="0" y="1596408"/>
                  <a:pt x="0" y="1516546"/>
                </a:cubicBezTo>
                <a:lnTo>
                  <a:pt x="0" y="144603"/>
                </a:lnTo>
                <a:cubicBezTo>
                  <a:pt x="0" y="64794"/>
                  <a:pt x="64794" y="0"/>
                  <a:pt x="144603" y="0"/>
                </a:cubicBezTo>
                <a:close/>
              </a:path>
            </a:pathLst>
          </a:custGeom>
          <a:noFill/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8261232" y="3152275"/>
            <a:ext cx="422969" cy="422969"/>
          </a:xfrm>
          <a:custGeom>
            <a:avLst/>
            <a:gdLst/>
            <a:ahLst/>
            <a:cxnLst/>
            <a:rect l="l" t="t" r="r" b="b"/>
            <a:pathLst>
              <a:path w="422969" h="422969">
                <a:moveTo>
                  <a:pt x="108454" y="0"/>
                </a:moveTo>
                <a:lnTo>
                  <a:pt x="314516" y="0"/>
                </a:lnTo>
                <a:cubicBezTo>
                  <a:pt x="374413" y="0"/>
                  <a:pt x="422969" y="48556"/>
                  <a:pt x="422969" y="108454"/>
                </a:cubicBezTo>
                <a:lnTo>
                  <a:pt x="422969" y="314516"/>
                </a:lnTo>
                <a:cubicBezTo>
                  <a:pt x="422969" y="374413"/>
                  <a:pt x="374413" y="422969"/>
                  <a:pt x="314516" y="422969"/>
                </a:cubicBezTo>
                <a:lnTo>
                  <a:pt x="108454" y="422969"/>
                </a:lnTo>
                <a:cubicBezTo>
                  <a:pt x="48556" y="422969"/>
                  <a:pt x="0" y="374413"/>
                  <a:pt x="0" y="314516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noFill/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8395444" y="3275190"/>
            <a:ext cx="158162" cy="180756"/>
          </a:xfrm>
          <a:custGeom>
            <a:avLst/>
            <a:gdLst/>
            <a:ahLst/>
            <a:cxnLst/>
            <a:rect l="l" t="t" r="r" b="b"/>
            <a:pathLst>
              <a:path w="158162" h="180756">
                <a:moveTo>
                  <a:pt x="86812" y="-9144"/>
                </a:moveTo>
                <a:cubicBezTo>
                  <a:pt x="82082" y="-12039"/>
                  <a:pt x="76115" y="-12039"/>
                  <a:pt x="71385" y="-9144"/>
                </a:cubicBezTo>
                <a:cubicBezTo>
                  <a:pt x="62770" y="-3883"/>
                  <a:pt x="57439" y="-2471"/>
                  <a:pt x="47343" y="-2683"/>
                </a:cubicBezTo>
                <a:cubicBezTo>
                  <a:pt x="41800" y="-2824"/>
                  <a:pt x="36645" y="177"/>
                  <a:pt x="33962" y="5048"/>
                </a:cubicBezTo>
                <a:cubicBezTo>
                  <a:pt x="29126" y="13910"/>
                  <a:pt x="25207" y="17828"/>
                  <a:pt x="16346" y="22665"/>
                </a:cubicBezTo>
                <a:cubicBezTo>
                  <a:pt x="11474" y="25313"/>
                  <a:pt x="8508" y="30503"/>
                  <a:pt x="8614" y="36045"/>
                </a:cubicBezTo>
                <a:cubicBezTo>
                  <a:pt x="8861" y="46142"/>
                  <a:pt x="7414" y="51473"/>
                  <a:pt x="2154" y="60087"/>
                </a:cubicBezTo>
                <a:cubicBezTo>
                  <a:pt x="-741" y="64818"/>
                  <a:pt x="-741" y="70784"/>
                  <a:pt x="2154" y="75515"/>
                </a:cubicBezTo>
                <a:cubicBezTo>
                  <a:pt x="7414" y="84129"/>
                  <a:pt x="8826" y="89460"/>
                  <a:pt x="8614" y="99557"/>
                </a:cubicBezTo>
                <a:cubicBezTo>
                  <a:pt x="8473" y="105100"/>
                  <a:pt x="11474" y="110254"/>
                  <a:pt x="16346" y="112937"/>
                </a:cubicBezTo>
                <a:cubicBezTo>
                  <a:pt x="24148" y="117209"/>
                  <a:pt x="28102" y="120739"/>
                  <a:pt x="32268" y="127588"/>
                </a:cubicBezTo>
                <a:lnTo>
                  <a:pt x="15075" y="161869"/>
                </a:lnTo>
                <a:cubicBezTo>
                  <a:pt x="12992" y="166070"/>
                  <a:pt x="14686" y="171153"/>
                  <a:pt x="18852" y="173236"/>
                </a:cubicBezTo>
                <a:lnTo>
                  <a:pt x="49214" y="188417"/>
                </a:lnTo>
                <a:cubicBezTo>
                  <a:pt x="53274" y="190429"/>
                  <a:pt x="58216" y="188911"/>
                  <a:pt x="60405" y="184957"/>
                </a:cubicBezTo>
                <a:lnTo>
                  <a:pt x="79045" y="151383"/>
                </a:lnTo>
                <a:lnTo>
                  <a:pt x="97686" y="184957"/>
                </a:lnTo>
                <a:cubicBezTo>
                  <a:pt x="99875" y="188911"/>
                  <a:pt x="104817" y="190465"/>
                  <a:pt x="108877" y="188417"/>
                </a:cubicBezTo>
                <a:lnTo>
                  <a:pt x="139239" y="173236"/>
                </a:lnTo>
                <a:cubicBezTo>
                  <a:pt x="143440" y="171153"/>
                  <a:pt x="145134" y="166070"/>
                  <a:pt x="143016" y="161869"/>
                </a:cubicBezTo>
                <a:lnTo>
                  <a:pt x="125859" y="127553"/>
                </a:lnTo>
                <a:cubicBezTo>
                  <a:pt x="129989" y="120704"/>
                  <a:pt x="133978" y="117174"/>
                  <a:pt x="141781" y="112902"/>
                </a:cubicBezTo>
                <a:cubicBezTo>
                  <a:pt x="146653" y="110254"/>
                  <a:pt x="149618" y="105064"/>
                  <a:pt x="149512" y="99522"/>
                </a:cubicBezTo>
                <a:cubicBezTo>
                  <a:pt x="149265" y="89425"/>
                  <a:pt x="150712" y="84094"/>
                  <a:pt x="155973" y="75480"/>
                </a:cubicBezTo>
                <a:cubicBezTo>
                  <a:pt x="158868" y="70749"/>
                  <a:pt x="158868" y="64783"/>
                  <a:pt x="155973" y="60052"/>
                </a:cubicBezTo>
                <a:cubicBezTo>
                  <a:pt x="150712" y="51438"/>
                  <a:pt x="149300" y="46107"/>
                  <a:pt x="149512" y="36010"/>
                </a:cubicBezTo>
                <a:cubicBezTo>
                  <a:pt x="149653" y="30467"/>
                  <a:pt x="146653" y="25313"/>
                  <a:pt x="141781" y="22630"/>
                </a:cubicBezTo>
                <a:cubicBezTo>
                  <a:pt x="132919" y="17793"/>
                  <a:pt x="129001" y="13874"/>
                  <a:pt x="124164" y="5013"/>
                </a:cubicBezTo>
                <a:cubicBezTo>
                  <a:pt x="121516" y="141"/>
                  <a:pt x="116326" y="-2824"/>
                  <a:pt x="110784" y="-2718"/>
                </a:cubicBezTo>
                <a:cubicBezTo>
                  <a:pt x="100687" y="-2471"/>
                  <a:pt x="95356" y="-3919"/>
                  <a:pt x="86742" y="-9179"/>
                </a:cubicBezTo>
                <a:close/>
                <a:moveTo>
                  <a:pt x="79081" y="33892"/>
                </a:moveTo>
                <a:cubicBezTo>
                  <a:pt x="97786" y="33892"/>
                  <a:pt x="112973" y="49078"/>
                  <a:pt x="112973" y="67784"/>
                </a:cubicBezTo>
                <a:cubicBezTo>
                  <a:pt x="112973" y="86489"/>
                  <a:pt x="97786" y="101675"/>
                  <a:pt x="79081" y="101675"/>
                </a:cubicBezTo>
                <a:cubicBezTo>
                  <a:pt x="60375" y="101675"/>
                  <a:pt x="45189" y="86489"/>
                  <a:pt x="45189" y="67784"/>
                </a:cubicBezTo>
                <a:cubicBezTo>
                  <a:pt x="45189" y="49078"/>
                  <a:pt x="60375" y="33892"/>
                  <a:pt x="79081" y="33892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8799885" y="3239038"/>
            <a:ext cx="93993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Estándares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57617" y="3690929"/>
            <a:ext cx="3488593" cy="61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El sistema resultante es </a:t>
            </a:r>
            <a:r>
              <a:rPr lang="en-US" sz="996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funcional, tiene un diseño moderno y cumple con los estándares de la industria</a:t>
            </a:r>
            <a:r>
              <a:rPr lang="en-US" sz="996" dirty="0">
                <a:latin typeface="MiSans" pitchFamily="34" charset="0"/>
                <a:ea typeface="MiSans" pitchFamily="34" charset="-122"/>
                <a:cs typeface="MiSans" pitchFamily="34" charset="-120"/>
              </a:rPr>
              <a:t> para aplicaciones web empresariales.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79588" y="4809807"/>
            <a:ext cx="11450900" cy="1319520"/>
          </a:xfrm>
          <a:custGeom>
            <a:avLst/>
            <a:gdLst/>
            <a:ahLst/>
            <a:cxnLst/>
            <a:rect l="l" t="t" r="r" b="b"/>
            <a:pathLst>
              <a:path w="11450900" h="1319520">
                <a:moveTo>
                  <a:pt x="0" y="0"/>
                </a:moveTo>
                <a:lnTo>
                  <a:pt x="11306294" y="0"/>
                </a:lnTo>
                <a:cubicBezTo>
                  <a:pt x="11386158" y="0"/>
                  <a:pt x="11450900" y="64742"/>
                  <a:pt x="11450900" y="144606"/>
                </a:cubicBezTo>
                <a:lnTo>
                  <a:pt x="11450900" y="1174913"/>
                </a:lnTo>
                <a:cubicBezTo>
                  <a:pt x="11450900" y="1254777"/>
                  <a:pt x="11386158" y="1319520"/>
                  <a:pt x="11306294" y="1319520"/>
                </a:cubicBezTo>
                <a:lnTo>
                  <a:pt x="0" y="1319520"/>
                </a:lnTo>
                <a:lnTo>
                  <a:pt x="0" y="0"/>
                </a:lnTo>
                <a:close/>
              </a:path>
            </a:pathLst>
          </a:custGeom>
          <a:noFill/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379588" y="4809807"/>
            <a:ext cx="36151" cy="1319520"/>
          </a:xfrm>
          <a:custGeom>
            <a:avLst/>
            <a:gdLst/>
            <a:ahLst/>
            <a:cxnLst/>
            <a:rect l="l" t="t" r="r" b="b"/>
            <a:pathLst>
              <a:path w="36151" h="1319520">
                <a:moveTo>
                  <a:pt x="0" y="0"/>
                </a:moveTo>
                <a:lnTo>
                  <a:pt x="36151" y="0"/>
                </a:lnTo>
                <a:lnTo>
                  <a:pt x="36151" y="1319520"/>
                </a:lnTo>
                <a:lnTo>
                  <a:pt x="0" y="1319520"/>
                </a:lnTo>
                <a:lnTo>
                  <a:pt x="0" y="0"/>
                </a:lnTo>
                <a:close/>
              </a:path>
            </a:pathLst>
          </a:custGeom>
          <a:noFill/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545883" y="4958027"/>
            <a:ext cx="422969" cy="422969"/>
          </a:xfrm>
          <a:custGeom>
            <a:avLst/>
            <a:gdLst/>
            <a:ahLst/>
            <a:cxnLst/>
            <a:rect l="l" t="t" r="r" b="b"/>
            <a:pathLst>
              <a:path w="422969" h="422969">
                <a:moveTo>
                  <a:pt x="108454" y="0"/>
                </a:moveTo>
                <a:lnTo>
                  <a:pt x="314516" y="0"/>
                </a:lnTo>
                <a:cubicBezTo>
                  <a:pt x="374413" y="0"/>
                  <a:pt x="422969" y="48556"/>
                  <a:pt x="422969" y="108454"/>
                </a:cubicBezTo>
                <a:lnTo>
                  <a:pt x="422969" y="314516"/>
                </a:lnTo>
                <a:cubicBezTo>
                  <a:pt x="422969" y="374413"/>
                  <a:pt x="374413" y="422969"/>
                  <a:pt x="314516" y="422969"/>
                </a:cubicBezTo>
                <a:lnTo>
                  <a:pt x="108454" y="422969"/>
                </a:lnTo>
                <a:cubicBezTo>
                  <a:pt x="48556" y="422969"/>
                  <a:pt x="0" y="374413"/>
                  <a:pt x="0" y="314516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noFill/>
          <a:ln w="1016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657500" y="5080941"/>
            <a:ext cx="203351" cy="180756"/>
          </a:xfrm>
          <a:custGeom>
            <a:avLst/>
            <a:gdLst/>
            <a:ahLst/>
            <a:cxnLst/>
            <a:rect l="l" t="t" r="r" b="b"/>
            <a:pathLst>
              <a:path w="203351" h="180756">
                <a:moveTo>
                  <a:pt x="16946" y="69125"/>
                </a:moveTo>
                <a:lnTo>
                  <a:pt x="90802" y="99522"/>
                </a:lnTo>
                <a:cubicBezTo>
                  <a:pt x="94261" y="100934"/>
                  <a:pt x="97933" y="101675"/>
                  <a:pt x="101675" y="101675"/>
                </a:cubicBezTo>
                <a:cubicBezTo>
                  <a:pt x="105418" y="101675"/>
                  <a:pt x="109089" y="100934"/>
                  <a:pt x="112549" y="99522"/>
                </a:cubicBezTo>
                <a:lnTo>
                  <a:pt x="198126" y="64288"/>
                </a:lnTo>
                <a:cubicBezTo>
                  <a:pt x="201303" y="62982"/>
                  <a:pt x="203351" y="59911"/>
                  <a:pt x="203351" y="56486"/>
                </a:cubicBezTo>
                <a:cubicBezTo>
                  <a:pt x="203351" y="53062"/>
                  <a:pt x="201303" y="49990"/>
                  <a:pt x="198126" y="48684"/>
                </a:cubicBezTo>
                <a:lnTo>
                  <a:pt x="112549" y="13451"/>
                </a:lnTo>
                <a:cubicBezTo>
                  <a:pt x="109089" y="12039"/>
                  <a:pt x="105418" y="11297"/>
                  <a:pt x="101675" y="11297"/>
                </a:cubicBezTo>
                <a:cubicBezTo>
                  <a:pt x="97933" y="11297"/>
                  <a:pt x="94261" y="12039"/>
                  <a:pt x="90802" y="13451"/>
                </a:cubicBezTo>
                <a:lnTo>
                  <a:pt x="5225" y="48684"/>
                </a:lnTo>
                <a:cubicBezTo>
                  <a:pt x="2048" y="49990"/>
                  <a:pt x="0" y="53062"/>
                  <a:pt x="0" y="56486"/>
                </a:cubicBezTo>
                <a:lnTo>
                  <a:pt x="0" y="160986"/>
                </a:lnTo>
                <a:cubicBezTo>
                  <a:pt x="0" y="165681"/>
                  <a:pt x="3778" y="169459"/>
                  <a:pt x="8473" y="169459"/>
                </a:cubicBezTo>
                <a:cubicBezTo>
                  <a:pt x="13168" y="169459"/>
                  <a:pt x="16946" y="165681"/>
                  <a:pt x="16946" y="160986"/>
                </a:cubicBezTo>
                <a:lnTo>
                  <a:pt x="16946" y="69125"/>
                </a:lnTo>
                <a:close/>
                <a:moveTo>
                  <a:pt x="33892" y="94438"/>
                </a:moveTo>
                <a:lnTo>
                  <a:pt x="33892" y="135567"/>
                </a:lnTo>
                <a:cubicBezTo>
                  <a:pt x="33892" y="154278"/>
                  <a:pt x="64253" y="169459"/>
                  <a:pt x="101675" y="169459"/>
                </a:cubicBezTo>
                <a:cubicBezTo>
                  <a:pt x="139097" y="169459"/>
                  <a:pt x="169459" y="154278"/>
                  <a:pt x="169459" y="135567"/>
                </a:cubicBezTo>
                <a:lnTo>
                  <a:pt x="169459" y="94403"/>
                </a:lnTo>
                <a:lnTo>
                  <a:pt x="119010" y="115197"/>
                </a:lnTo>
                <a:cubicBezTo>
                  <a:pt x="113502" y="117456"/>
                  <a:pt x="107642" y="118621"/>
                  <a:pt x="101675" y="118621"/>
                </a:cubicBezTo>
                <a:cubicBezTo>
                  <a:pt x="95709" y="118621"/>
                  <a:pt x="89848" y="117456"/>
                  <a:pt x="84341" y="115197"/>
                </a:cubicBezTo>
                <a:lnTo>
                  <a:pt x="33892" y="94403"/>
                </a:lnTo>
                <a:close/>
              </a:path>
            </a:pathLst>
          </a:custGeom>
          <a:solidFill>
            <a:schemeClr val="tx1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8"/>
          <p:cNvSpPr/>
          <p:nvPr/>
        </p:nvSpPr>
        <p:spPr>
          <a:xfrm>
            <a:off x="1120688" y="4954412"/>
            <a:ext cx="1065557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Aprendizajes y Futuro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20688" y="5279773"/>
            <a:ext cx="10637497" cy="7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latin typeface="MiSans" pitchFamily="34" charset="0"/>
                <a:ea typeface="MiSans" pitchFamily="34" charset="-122"/>
                <a:cs typeface="MiSans" pitchFamily="34" charset="-120"/>
              </a:rPr>
              <a:t>Este proyecto demuestra la efectividad del </a:t>
            </a:r>
            <a:r>
              <a:rPr lang="en-US" sz="1139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patrón MVC y las tecnologías Java EE</a:t>
            </a:r>
            <a:r>
              <a:rPr lang="en-US" sz="1139" dirty="0">
                <a:latin typeface="MiSans" pitchFamily="34" charset="0"/>
                <a:ea typeface="MiSans" pitchFamily="34" charset="-122"/>
                <a:cs typeface="MiSans" pitchFamily="34" charset="-120"/>
              </a:rPr>
              <a:t> para desarrollar aplicaciones web empresariales robustas y mantenibles. La experiencia ganada proporciona una </a:t>
            </a:r>
            <a:r>
              <a:rPr lang="en-US" sz="1139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base sólida para desarrollar aplicaciones más complejas</a:t>
            </a:r>
            <a:r>
              <a:rPr lang="en-US" sz="1139" dirty="0">
                <a:latin typeface="MiSans" pitchFamily="34" charset="0"/>
                <a:ea typeface="MiSans" pitchFamily="34" charset="-122"/>
                <a:cs typeface="MiSans" pitchFamily="34" charset="-120"/>
              </a:rPr>
              <a:t> en el futuro, y los conceptos aprendidos (MVC, JDBC, DAO, JSTL) son transferibles a otros frameworks y tecnologías modernas como Spring Boot, JPA/Hibernate, Thymeleaf, etc.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1271</Words>
  <Application>Microsoft Office PowerPoint</Application>
  <PresentationFormat>Panorámica</PresentationFormat>
  <Paragraphs>177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0" baseType="lpstr">
      <vt:lpstr>Calibri Light</vt:lpstr>
      <vt:lpstr>Montserrat</vt:lpstr>
      <vt:lpstr>Roboto</vt:lpstr>
      <vt:lpstr>Montserrat SemiBold</vt:lpstr>
      <vt:lpstr>Roboto SemiBold</vt:lpstr>
      <vt:lpstr>Alimama ShuHeiTi</vt:lpstr>
      <vt:lpstr>Arial</vt:lpstr>
      <vt:lpstr>MiSans</vt:lpstr>
      <vt:lpstr>Calibri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Klever Jami</cp:lastModifiedBy>
  <cp:revision>1</cp:revision>
  <dcterms:modified xsi:type="dcterms:W3CDTF">2026-02-09T07:05:15Z</dcterms:modified>
</cp:coreProperties>
</file>